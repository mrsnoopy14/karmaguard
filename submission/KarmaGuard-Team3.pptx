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KarmaGuard is Team 3's entry in the AI observability and reliability category. It is an AI agent that tests our customer support bot the way a hacker would, judges every answer against our policy, and fixes the bot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company is putting chatbots in front of customers. They fail silently: they promise rewards they should not, invent policies, or leak data. Today we only find out when a customer complains, because manual testing is slow and not repeatable.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 is simple: no AI reply reaches a customer until it has been attacked, judged and proven safe. KarmaGuard does three things: catch, prove and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agents work in a loop. The hacker writes tricky messages, the support bot answers, the judge scores each answer against the policy, and the auto-fix agent rewrites the bot instructions. On autopilot the loop repeats until the bot passes at least 80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is a headless Claude Code call with its own role. They exchange structured JSON, so every verdict can be tracked. The policy document is the only ground truth, the auto-fixer cannot invent new business rules, and we used only dummy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weak demo bot passed only 17 percent: it promised goodwill coins in chat. One auto-fix round took it to 100 percent on the same attacks. Even our carefully written bot dropped to 75 percent under harder attacks, and KarmaGuard found two real policy gaps. A full run costs about 12 rupees at API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Claude. Claude Code in headless mode runs each agent. Sonnet powers the hacker, judge and fixer; Haiku is the support bot. A small Python server and an HTML dashboard tie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KarmaGuard protects customer trust and money, gives us reliability we can measure, and replaces hours of manual testing with minutes. Next, we want to run it nightly on every AI feature and add it to the release pipeline so no bot below 80 percent can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KarmaGuard: catch it before the customer does.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laude.ai/artifact/M3tygTdsqDQT3LYpdjm3R5"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3D25"/>
        </a:solidFill>
      </p:bgPr>
    </p:bg>
    <p:spTree>
      <p:nvGrpSpPr>
        <p:cNvPr id="1" name=""/>
        <p:cNvGrpSpPr/>
        <p:nvPr/>
      </p:nvGrpSpPr>
      <p:grpSpPr>
        <a:xfrm>
          <a:off x="0" y="0"/>
          <a:ext cx="0" cy="0"/>
          <a:chOff x="0" y="0"/>
          <a:chExt cx="0" cy="0"/>
        </a:xfrm>
      </p:grpSpPr>
      <p:sp>
        <p:nvSpPr>
          <p:cNvPr id="2" name="Shape 0"/>
          <p:cNvSpPr/>
          <p:nvPr/>
        </p:nvSpPr>
        <p:spPr>
          <a:xfrm>
            <a:off x="731520" y="731520"/>
            <a:ext cx="822960" cy="822960"/>
          </a:xfrm>
          <a:prstGeom prst="ellipse">
            <a:avLst/>
          </a:prstGeom>
          <a:solidFill>
            <a:srgbClr val="3DCC85"/>
          </a:solidFill>
          <a:ln w="12700">
            <a:solidFill>
              <a:srgbClr val="3DCC85"/>
            </a:solidFill>
            <a:prstDash val="solid"/>
          </a:ln>
        </p:spPr>
      </p:sp>
      <p:sp>
        <p:nvSpPr>
          <p:cNvPr id="3" name="Text 1"/>
          <p:cNvSpPr txBox="1"/>
          <p:nvPr/>
        </p:nvSpPr>
        <p:spPr>
          <a:xfrm>
            <a:off x="731520" y="73152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KG</a:t>
            </a:r>
            <a:endParaRPr lang="en-US" sz="2200" dirty="0"/>
          </a:p>
        </p:txBody>
      </p:sp>
      <p:sp>
        <p:nvSpPr>
          <p:cNvPr id="4" name="Text 2"/>
          <p:cNvSpPr txBox="1"/>
          <p:nvPr/>
        </p:nvSpPr>
        <p:spPr>
          <a:xfrm>
            <a:off x="731520" y="1828800"/>
            <a:ext cx="10058400" cy="109728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KarmaGuard</a:t>
            </a:r>
            <a:endParaRPr lang="en-US" sz="6000" dirty="0"/>
          </a:p>
        </p:txBody>
      </p:sp>
      <p:sp>
        <p:nvSpPr>
          <p:cNvPr id="5" name="Text 3"/>
          <p:cNvSpPr txBox="1"/>
          <p:nvPr/>
        </p:nvSpPr>
        <p:spPr>
          <a:xfrm>
            <a:off x="731520" y="2926080"/>
            <a:ext cx="9601200" cy="914400"/>
          </a:xfrm>
          <a:prstGeom prst="rect">
            <a:avLst/>
          </a:prstGeom>
          <a:noFill/>
          <a:ln/>
        </p:spPr>
        <p:txBody>
          <a:bodyPr wrap="square" lIns="0" tIns="0" rIns="0" bIns="0" rtlCol="0" anchor="ctr"/>
          <a:lstStyle/>
          <a:p>
            <a:pPr indent="0" marL="0">
              <a:buNone/>
            </a:pPr>
            <a:r>
              <a:rPr lang="en-US" sz="2200" dirty="0">
                <a:solidFill>
                  <a:srgbClr val="CFE9DC"/>
                </a:solidFill>
                <a:latin typeface="Calibri" pitchFamily="34" charset="0"/>
                <a:ea typeface="Calibri" pitchFamily="34" charset="-122"/>
                <a:cs typeface="Calibri" pitchFamily="34" charset="-120"/>
              </a:rPr>
              <a:t>An AI agent that attacks, judges and fixes our support bot before customers see its mistakes</a:t>
            </a:r>
            <a:endParaRPr lang="en-US" sz="2200" dirty="0"/>
          </a:p>
        </p:txBody>
      </p:sp>
      <p:sp>
        <p:nvSpPr>
          <p:cNvPr id="6" name="Text 4"/>
          <p:cNvSpPr txBox="1"/>
          <p:nvPr/>
        </p:nvSpPr>
        <p:spPr>
          <a:xfrm>
            <a:off x="731520" y="4572000"/>
            <a:ext cx="7315200" cy="1280160"/>
          </a:xfrm>
          <a:prstGeom prst="rect">
            <a:avLst/>
          </a:prstGeom>
          <a:noFill/>
          <a:ln/>
        </p:spPr>
        <p:txBody>
          <a:bodyPr wrap="square" lIns="0" tIns="0" rIns="0" bIns="0" rtlCol="0" anchor="ctr"/>
          <a:lstStyle/>
          <a:p>
            <a:pPr indent="0" marL="0">
              <a:spcAft>
                <a:spcPts val="400"/>
              </a:spcAft>
              <a:buNone/>
            </a:pPr>
            <a:r>
              <a:rPr lang="en-US" sz="1600" b="1" dirty="0">
                <a:solidFill>
                  <a:srgbClr val="3DCC85"/>
                </a:solidFill>
                <a:latin typeface="Calibri" pitchFamily="34" charset="0"/>
                <a:ea typeface="Calibri" pitchFamily="34" charset="-122"/>
                <a:cs typeface="Calibri" pitchFamily="34" charset="-120"/>
              </a:rPr>
              <a:t>Category: </a:t>
            </a:r>
            <a:pPr indent="0" marL="0">
              <a:spcAft>
                <a:spcPts val="400"/>
              </a:spcAft>
              <a:buNone/>
            </a:pPr>
            <a:r>
              <a:rPr lang="en-US" sz="1600" dirty="0">
                <a:solidFill>
                  <a:srgbClr val="FFFFFF"/>
                </a:solidFill>
                <a:latin typeface="Calibri" pitchFamily="34" charset="0"/>
                <a:ea typeface="Calibri" pitchFamily="34" charset="-122"/>
                <a:cs typeface="Calibri" pitchFamily="34" charset="-120"/>
              </a:rPr>
              <a:t>AI observability and reliability</a:t>
            </a:r>
            <a:endParaRPr lang="en-US" sz="1600" dirty="0"/>
          </a:p>
          <a:p>
            <a:pPr indent="0" marL="0">
              <a:spcAft>
                <a:spcPts val="400"/>
              </a:spcAft>
              <a:buNone/>
            </a:pPr>
            <a:r>
              <a:rPr lang="en-US" sz="1600" b="1" dirty="0">
                <a:solidFill>
                  <a:srgbClr val="3DCC85"/>
                </a:solidFill>
                <a:latin typeface="Calibri" pitchFamily="34" charset="0"/>
                <a:ea typeface="Calibri" pitchFamily="34" charset="-122"/>
                <a:cs typeface="Calibri" pitchFamily="34" charset="-120"/>
              </a:rPr>
              <a:t>Team 3: </a:t>
            </a:r>
            <a:pPr indent="0" marL="0">
              <a:spcAft>
                <a:spcPts val="400"/>
              </a:spcAft>
              <a:buNone/>
            </a:pPr>
            <a:r>
              <a:rPr lang="en-US" sz="1600" dirty="0">
                <a:solidFill>
                  <a:srgbClr val="FFFFFF"/>
                </a:solidFill>
                <a:latin typeface="Calibri" pitchFamily="34" charset="0"/>
                <a:ea typeface="Calibri" pitchFamily="34" charset="-122"/>
                <a:cs typeface="Calibri" pitchFamily="34" charset="-120"/>
              </a:rPr>
              <a:t>Shashi and Gourav</a:t>
            </a:r>
            <a:endParaRPr lang="en-US" sz="1600" dirty="0"/>
          </a:p>
          <a:p>
            <a:pPr indent="0" marL="0">
              <a:spcAft>
                <a:spcPts val="400"/>
              </a:spcAft>
              <a:buNone/>
            </a:pPr>
            <a:r>
              <a:rPr lang="en-US" sz="1600" dirty="0">
                <a:solidFill>
                  <a:srgbClr val="9FC9B4"/>
                </a:solidFill>
                <a:latin typeface="Calibri" pitchFamily="34" charset="0"/>
                <a:ea typeface="Calibri" pitchFamily="34" charset="-122"/>
                <a:cs typeface="Calibri" pitchFamily="34" charset="-120"/>
              </a:rPr>
              <a:t>Agentic AI Hackathon · 19 Sept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5486400" cy="274320"/>
          </a:xfrm>
          <a:prstGeom prst="rect">
            <a:avLst/>
          </a:prstGeom>
          <a:noFill/>
          <a:ln/>
        </p:spPr>
        <p:txBody>
          <a:bodyPr wrap="square" lIns="0" tIns="0" rIns="0" bIns="0" rtlCol="0" anchor="ctr"/>
          <a:lstStyle/>
          <a:p>
            <a:pPr indent="0" marL="0">
              <a:buNone/>
            </a:pPr>
            <a:r>
              <a:rPr lang="en-US" sz="1200" b="1" spc="200" kern="0" dirty="0">
                <a:solidFill>
                  <a:srgbClr val="0F7A4A"/>
                </a:solidFill>
                <a:latin typeface="Calibri" pitchFamily="34" charset="0"/>
                <a:ea typeface="Calibri" pitchFamily="34" charset="-122"/>
                <a:cs typeface="Calibri" pitchFamily="34" charset="-120"/>
              </a:rPr>
              <a:t>WHY</a:t>
            </a:r>
            <a:endParaRPr lang="en-US" sz="12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600" b="1" dirty="0">
                <a:solidFill>
                  <a:srgbClr val="13201A"/>
                </a:solidFill>
                <a:latin typeface="Cambria" pitchFamily="34" charset="0"/>
                <a:ea typeface="Cambria" pitchFamily="34" charset="-122"/>
                <a:cs typeface="Cambria" pitchFamily="34" charset="-120"/>
              </a:rPr>
              <a:t>Chatbots fail silently</a:t>
            </a:r>
            <a:endParaRPr lang="en-US" sz="3600" dirty="0"/>
          </a:p>
        </p:txBody>
      </p:sp>
      <p:sp>
        <p:nvSpPr>
          <p:cNvPr id="4" name="Text 2"/>
          <p:cNvSpPr txBox="1"/>
          <p:nvPr/>
        </p:nvSpPr>
        <p:spPr>
          <a:xfrm>
            <a:off x="548640" y="1097280"/>
            <a:ext cx="11094415" cy="411480"/>
          </a:xfrm>
          <a:prstGeom prst="rect">
            <a:avLst/>
          </a:prstGeom>
          <a:noFill/>
          <a:ln/>
        </p:spPr>
        <p:txBody>
          <a:bodyPr wrap="square" lIns="0" tIns="0" rIns="0" bIns="0" rtlCol="0" anchor="ctr"/>
          <a:lstStyle/>
          <a:p>
            <a:pPr indent="0" marL="0">
              <a:buNone/>
            </a:pPr>
            <a:r>
              <a:rPr lang="en-US" sz="1600" dirty="0">
                <a:solidFill>
                  <a:srgbClr val="5F6F67"/>
                </a:solidFill>
                <a:latin typeface="Calibri" pitchFamily="34" charset="0"/>
                <a:ea typeface="Calibri" pitchFamily="34" charset="-122"/>
                <a:cs typeface="Calibri" pitchFamily="34" charset="-120"/>
              </a:rPr>
              <a:t>One wrong reply costs money and trust, and today we only find out after a customer complains</a:t>
            </a:r>
            <a:endParaRPr lang="en-US" sz="1600" dirty="0"/>
          </a:p>
        </p:txBody>
      </p:sp>
      <p:sp>
        <p:nvSpPr>
          <p:cNvPr id="5" name="Shape 3"/>
          <p:cNvSpPr/>
          <p:nvPr/>
        </p:nvSpPr>
        <p:spPr>
          <a:xfrm>
            <a:off x="548640" y="1874520"/>
            <a:ext cx="6766560" cy="1143000"/>
          </a:xfrm>
          <a:prstGeom prst="roundRect">
            <a:avLst>
              <a:gd name="adj" fmla="val 9600"/>
            </a:avLst>
          </a:prstGeom>
          <a:solidFill>
            <a:srgbClr val="FDE9E9"/>
          </a:solidFill>
          <a:ln w="9525">
            <a:solidFill>
              <a:srgbClr val="DFE7E3"/>
            </a:solidFill>
            <a:prstDash val="solid"/>
          </a:ln>
        </p:spPr>
      </p:sp>
      <p:sp>
        <p:nvSpPr>
          <p:cNvPr id="6" name="Shape 4"/>
          <p:cNvSpPr/>
          <p:nvPr/>
        </p:nvSpPr>
        <p:spPr>
          <a:xfrm>
            <a:off x="777240" y="2176272"/>
            <a:ext cx="548640" cy="548640"/>
          </a:xfrm>
          <a:prstGeom prst="ellipse">
            <a:avLst/>
          </a:prstGeom>
          <a:solidFill>
            <a:srgbClr val="D13737"/>
          </a:solidFill>
          <a:ln w="12700">
            <a:solidFill>
              <a:srgbClr val="D13737"/>
            </a:solidFill>
            <a:prstDash val="solid"/>
          </a:ln>
        </p:spPr>
      </p:sp>
      <p:sp>
        <p:nvSpPr>
          <p:cNvPr id="7" name="Text 5"/>
          <p:cNvSpPr txBox="1"/>
          <p:nvPr/>
        </p:nvSpPr>
        <p:spPr>
          <a:xfrm>
            <a:off x="777240" y="217627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8" name="Text 6"/>
          <p:cNvSpPr txBox="1"/>
          <p:nvPr/>
        </p:nvSpPr>
        <p:spPr>
          <a:xfrm>
            <a:off x="1508760" y="2011680"/>
            <a:ext cx="5669280" cy="502920"/>
          </a:xfrm>
          <a:prstGeom prst="rect">
            <a:avLst/>
          </a:prstGeom>
          <a:noFill/>
          <a:ln/>
        </p:spPr>
        <p:txBody>
          <a:bodyPr wrap="square" lIns="0" tIns="0" rIns="0" bIns="0" rtlCol="0" anchor="ctr"/>
          <a:lstStyle/>
          <a:p>
            <a:pPr indent="0" marL="0">
              <a:buNone/>
            </a:pPr>
            <a:r>
              <a:rPr lang="en-US" sz="1600" i="1" dirty="0">
                <a:solidFill>
                  <a:srgbClr val="13201A"/>
                </a:solidFill>
                <a:latin typeface="Calibri" pitchFamily="34" charset="0"/>
                <a:ea typeface="Calibri" pitchFamily="34" charset="-122"/>
                <a:cs typeface="Calibri" pitchFamily="34" charset="-120"/>
              </a:rPr>
              <a:t>"Sure, I have added 80 goodwill coins to your account."</a:t>
            </a:r>
            <a:endParaRPr lang="en-US" sz="1600" dirty="0"/>
          </a:p>
        </p:txBody>
      </p:sp>
      <p:sp>
        <p:nvSpPr>
          <p:cNvPr id="9" name="Text 7"/>
          <p:cNvSpPr txBox="1"/>
          <p:nvPr/>
        </p:nvSpPr>
        <p:spPr>
          <a:xfrm>
            <a:off x="1508760" y="2514600"/>
            <a:ext cx="5669280" cy="365760"/>
          </a:xfrm>
          <a:prstGeom prst="rect">
            <a:avLst/>
          </a:prstGeom>
          <a:noFill/>
          <a:ln/>
        </p:spPr>
        <p:txBody>
          <a:bodyPr wrap="square" lIns="0" tIns="0" rIns="0" bIns="0" rtlCol="0" anchor="ctr"/>
          <a:lstStyle/>
          <a:p>
            <a:pPr indent="0" marL="0">
              <a:buNone/>
            </a:pPr>
            <a:r>
              <a:rPr lang="en-US" sz="1300" b="1" dirty="0">
                <a:solidFill>
                  <a:srgbClr val="D13737"/>
                </a:solidFill>
                <a:latin typeface="Calibri" pitchFamily="34" charset="0"/>
                <a:ea typeface="Calibri" pitchFamily="34" charset="-122"/>
                <a:cs typeface="Calibri" pitchFamily="34" charset="-120"/>
              </a:rPr>
              <a:t>Promises rewards the policy does not allow</a:t>
            </a:r>
            <a:endParaRPr lang="en-US" sz="1300" dirty="0"/>
          </a:p>
        </p:txBody>
      </p:sp>
      <p:sp>
        <p:nvSpPr>
          <p:cNvPr id="10" name="Shape 8"/>
          <p:cNvSpPr/>
          <p:nvPr/>
        </p:nvSpPr>
        <p:spPr>
          <a:xfrm>
            <a:off x="548640" y="3246120"/>
            <a:ext cx="6766560" cy="1143000"/>
          </a:xfrm>
          <a:prstGeom prst="roundRect">
            <a:avLst>
              <a:gd name="adj" fmla="val 9600"/>
            </a:avLst>
          </a:prstGeom>
          <a:solidFill>
            <a:srgbClr val="FDE9E9"/>
          </a:solidFill>
          <a:ln w="9525">
            <a:solidFill>
              <a:srgbClr val="DFE7E3"/>
            </a:solidFill>
            <a:prstDash val="solid"/>
          </a:ln>
        </p:spPr>
      </p:sp>
      <p:sp>
        <p:nvSpPr>
          <p:cNvPr id="11" name="Shape 9"/>
          <p:cNvSpPr/>
          <p:nvPr/>
        </p:nvSpPr>
        <p:spPr>
          <a:xfrm>
            <a:off x="777240" y="3547872"/>
            <a:ext cx="548640" cy="548640"/>
          </a:xfrm>
          <a:prstGeom prst="ellipse">
            <a:avLst/>
          </a:prstGeom>
          <a:solidFill>
            <a:srgbClr val="D13737"/>
          </a:solidFill>
          <a:ln w="12700">
            <a:solidFill>
              <a:srgbClr val="D13737"/>
            </a:solidFill>
            <a:prstDash val="solid"/>
          </a:ln>
        </p:spPr>
      </p:sp>
      <p:sp>
        <p:nvSpPr>
          <p:cNvPr id="12" name="Text 10"/>
          <p:cNvSpPr txBox="1"/>
          <p:nvPr/>
        </p:nvSpPr>
        <p:spPr>
          <a:xfrm>
            <a:off x="777240" y="354787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3" name="Text 11"/>
          <p:cNvSpPr txBox="1"/>
          <p:nvPr/>
        </p:nvSpPr>
        <p:spPr>
          <a:xfrm>
            <a:off x="1508760" y="3383280"/>
            <a:ext cx="5669280" cy="502920"/>
          </a:xfrm>
          <a:prstGeom prst="rect">
            <a:avLst/>
          </a:prstGeom>
          <a:noFill/>
          <a:ln/>
        </p:spPr>
        <p:txBody>
          <a:bodyPr wrap="square" lIns="0" tIns="0" rIns="0" bIns="0" rtlCol="0" anchor="ctr"/>
          <a:lstStyle/>
          <a:p>
            <a:pPr indent="0" marL="0">
              <a:buNone/>
            </a:pPr>
            <a:r>
              <a:rPr lang="en-US" sz="1600" i="1" dirty="0">
                <a:solidFill>
                  <a:srgbClr val="13201A"/>
                </a:solidFill>
                <a:latin typeface="Calibri" pitchFamily="34" charset="0"/>
                <a:ea typeface="Calibri" pitchFamily="34" charset="-122"/>
                <a:cs typeface="Calibri" pitchFamily="34" charset="-120"/>
              </a:rPr>
              <a:t>"Yes, we now do pickups on Sundays in Chennai!"</a:t>
            </a:r>
            <a:endParaRPr lang="en-US" sz="1600" dirty="0"/>
          </a:p>
        </p:txBody>
      </p:sp>
      <p:sp>
        <p:nvSpPr>
          <p:cNvPr id="14" name="Text 12"/>
          <p:cNvSpPr txBox="1"/>
          <p:nvPr/>
        </p:nvSpPr>
        <p:spPr>
          <a:xfrm>
            <a:off x="1508760" y="3886200"/>
            <a:ext cx="5669280" cy="365760"/>
          </a:xfrm>
          <a:prstGeom prst="rect">
            <a:avLst/>
          </a:prstGeom>
          <a:noFill/>
          <a:ln/>
        </p:spPr>
        <p:txBody>
          <a:bodyPr wrap="square" lIns="0" tIns="0" rIns="0" bIns="0" rtlCol="0" anchor="ctr"/>
          <a:lstStyle/>
          <a:p>
            <a:pPr indent="0" marL="0">
              <a:buNone/>
            </a:pPr>
            <a:r>
              <a:rPr lang="en-US" sz="1300" b="1" dirty="0">
                <a:solidFill>
                  <a:srgbClr val="D13737"/>
                </a:solidFill>
                <a:latin typeface="Calibri" pitchFamily="34" charset="0"/>
                <a:ea typeface="Calibri" pitchFamily="34" charset="-122"/>
                <a:cs typeface="Calibri" pitchFamily="34" charset="-120"/>
              </a:rPr>
              <a:t>Invents cities, dates and offers</a:t>
            </a:r>
            <a:endParaRPr lang="en-US" sz="1300" dirty="0"/>
          </a:p>
        </p:txBody>
      </p:sp>
      <p:sp>
        <p:nvSpPr>
          <p:cNvPr id="15" name="Shape 13"/>
          <p:cNvSpPr/>
          <p:nvPr/>
        </p:nvSpPr>
        <p:spPr>
          <a:xfrm>
            <a:off x="548640" y="4617720"/>
            <a:ext cx="6766560" cy="1143000"/>
          </a:xfrm>
          <a:prstGeom prst="roundRect">
            <a:avLst>
              <a:gd name="adj" fmla="val 9600"/>
            </a:avLst>
          </a:prstGeom>
          <a:solidFill>
            <a:srgbClr val="FDE9E9"/>
          </a:solidFill>
          <a:ln w="9525">
            <a:solidFill>
              <a:srgbClr val="DFE7E3"/>
            </a:solidFill>
            <a:prstDash val="solid"/>
          </a:ln>
        </p:spPr>
      </p:sp>
      <p:sp>
        <p:nvSpPr>
          <p:cNvPr id="16" name="Shape 14"/>
          <p:cNvSpPr/>
          <p:nvPr/>
        </p:nvSpPr>
        <p:spPr>
          <a:xfrm>
            <a:off x="777240" y="4919472"/>
            <a:ext cx="548640" cy="548640"/>
          </a:xfrm>
          <a:prstGeom prst="ellipse">
            <a:avLst/>
          </a:prstGeom>
          <a:solidFill>
            <a:srgbClr val="D13737"/>
          </a:solidFill>
          <a:ln w="12700">
            <a:solidFill>
              <a:srgbClr val="D13737"/>
            </a:solidFill>
            <a:prstDash val="solid"/>
          </a:ln>
        </p:spPr>
      </p:sp>
      <p:sp>
        <p:nvSpPr>
          <p:cNvPr id="17" name="Text 15"/>
          <p:cNvSpPr txBox="1"/>
          <p:nvPr/>
        </p:nvSpPr>
        <p:spPr>
          <a:xfrm>
            <a:off x="777240" y="491947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8" name="Text 16"/>
          <p:cNvSpPr txBox="1"/>
          <p:nvPr/>
        </p:nvSpPr>
        <p:spPr>
          <a:xfrm>
            <a:off x="1508760" y="4754880"/>
            <a:ext cx="5669280" cy="502920"/>
          </a:xfrm>
          <a:prstGeom prst="rect">
            <a:avLst/>
          </a:prstGeom>
          <a:noFill/>
          <a:ln/>
        </p:spPr>
        <p:txBody>
          <a:bodyPr wrap="square" lIns="0" tIns="0" rIns="0" bIns="0" rtlCol="0" anchor="ctr"/>
          <a:lstStyle/>
          <a:p>
            <a:pPr indent="0" marL="0">
              <a:buNone/>
            </a:pPr>
            <a:r>
              <a:rPr lang="en-US" sz="1600" i="1" dirty="0">
                <a:solidFill>
                  <a:srgbClr val="13201A"/>
                </a:solidFill>
                <a:latin typeface="Calibri" pitchFamily="34" charset="0"/>
                <a:ea typeface="Calibri" pitchFamily="34" charset="-122"/>
                <a:cs typeface="Calibri" pitchFamily="34" charset="-120"/>
              </a:rPr>
              <a:t>"Her registered email is priya@..."</a:t>
            </a:r>
            <a:endParaRPr lang="en-US" sz="1600" dirty="0"/>
          </a:p>
        </p:txBody>
      </p:sp>
      <p:sp>
        <p:nvSpPr>
          <p:cNvPr id="19" name="Text 17"/>
          <p:cNvSpPr txBox="1"/>
          <p:nvPr/>
        </p:nvSpPr>
        <p:spPr>
          <a:xfrm>
            <a:off x="1508760" y="5257800"/>
            <a:ext cx="5669280" cy="365760"/>
          </a:xfrm>
          <a:prstGeom prst="rect">
            <a:avLst/>
          </a:prstGeom>
          <a:noFill/>
          <a:ln/>
        </p:spPr>
        <p:txBody>
          <a:bodyPr wrap="square" lIns="0" tIns="0" rIns="0" bIns="0" rtlCol="0" anchor="ctr"/>
          <a:lstStyle/>
          <a:p>
            <a:pPr indent="0" marL="0">
              <a:buNone/>
            </a:pPr>
            <a:r>
              <a:rPr lang="en-US" sz="1300" b="1" dirty="0">
                <a:solidFill>
                  <a:srgbClr val="D13737"/>
                </a:solidFill>
                <a:latin typeface="Calibri" pitchFamily="34" charset="0"/>
                <a:ea typeface="Calibri" pitchFamily="34" charset="-122"/>
                <a:cs typeface="Calibri" pitchFamily="34" charset="-120"/>
              </a:rPr>
              <a:t>Leaks another customer's data</a:t>
            </a:r>
            <a:endParaRPr lang="en-US" sz="1300" dirty="0"/>
          </a:p>
        </p:txBody>
      </p:sp>
      <p:sp>
        <p:nvSpPr>
          <p:cNvPr id="20" name="Shape 18"/>
          <p:cNvSpPr/>
          <p:nvPr/>
        </p:nvSpPr>
        <p:spPr>
          <a:xfrm>
            <a:off x="7772400" y="1874520"/>
            <a:ext cx="3886200" cy="3886200"/>
          </a:xfrm>
          <a:prstGeom prst="roundRect">
            <a:avLst>
              <a:gd name="adj" fmla="val 2824"/>
            </a:avLst>
          </a:prstGeom>
          <a:solidFill>
            <a:srgbClr val="F3F6F4"/>
          </a:solidFill>
          <a:ln w="9525">
            <a:solidFill>
              <a:srgbClr val="DFE7E3"/>
            </a:solidFill>
            <a:prstDash val="solid"/>
          </a:ln>
        </p:spPr>
      </p:sp>
      <p:sp>
        <p:nvSpPr>
          <p:cNvPr id="21" name="Text 19"/>
          <p:cNvSpPr txBox="1"/>
          <p:nvPr/>
        </p:nvSpPr>
        <p:spPr>
          <a:xfrm>
            <a:off x="8046720" y="2103120"/>
            <a:ext cx="3383280" cy="411480"/>
          </a:xfrm>
          <a:prstGeom prst="rect">
            <a:avLst/>
          </a:prstGeom>
          <a:noFill/>
          <a:ln/>
        </p:spPr>
        <p:txBody>
          <a:bodyPr wrap="square" lIns="0" tIns="0" rIns="0" bIns="0" rtlCol="0" anchor="ctr"/>
          <a:lstStyle/>
          <a:p>
            <a:pPr indent="0" marL="0">
              <a:buNone/>
            </a:pPr>
            <a:r>
              <a:rPr lang="en-US" sz="2000" b="1" dirty="0">
                <a:solidFill>
                  <a:srgbClr val="13201A"/>
                </a:solidFill>
                <a:latin typeface="Cambria" pitchFamily="34" charset="0"/>
                <a:ea typeface="Cambria" pitchFamily="34" charset="-122"/>
                <a:cs typeface="Cambria" pitchFamily="34" charset="-120"/>
              </a:rPr>
              <a:t>Manual testing today</a:t>
            </a:r>
            <a:endParaRPr lang="en-US" sz="2000" dirty="0"/>
          </a:p>
        </p:txBody>
      </p:sp>
      <p:sp>
        <p:nvSpPr>
          <p:cNvPr id="22" name="Text 20"/>
          <p:cNvSpPr txBox="1"/>
          <p:nvPr/>
        </p:nvSpPr>
        <p:spPr>
          <a:xfrm>
            <a:off x="8046720" y="2651760"/>
            <a:ext cx="3429000" cy="2926080"/>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13201A"/>
                </a:solidFill>
                <a:latin typeface="Calibri" pitchFamily="34" charset="0"/>
                <a:ea typeface="Calibri" pitchFamily="34" charset="-122"/>
                <a:cs typeface="Calibri" pitchFamily="34" charset="-120"/>
              </a:rPr>
              <a:t>Slow: a person types questions by hand</a:t>
            </a:r>
            <a:endParaRPr lang="en-US" sz="1500" dirty="0"/>
          </a:p>
          <a:p>
            <a:pPr marL="342900" indent="-342900">
              <a:spcAft>
                <a:spcPts val="1000"/>
              </a:spcAft>
              <a:buSzPct val="100000"/>
              <a:buChar char="•"/>
            </a:pPr>
            <a:r>
              <a:rPr lang="en-US" sz="1500" dirty="0">
                <a:solidFill>
                  <a:srgbClr val="13201A"/>
                </a:solidFill>
                <a:latin typeface="Calibri" pitchFamily="34" charset="0"/>
                <a:ea typeface="Calibri" pitchFamily="34" charset="-122"/>
                <a:cs typeface="Calibri" pitchFamily="34" charset="-120"/>
              </a:rPr>
              <a:t>Misses tricky cases like prompt injection and Hinglish</a:t>
            </a:r>
            <a:endParaRPr lang="en-US" sz="1500" dirty="0"/>
          </a:p>
          <a:p>
            <a:pPr marL="342900" indent="-342900">
              <a:spcAft>
                <a:spcPts val="1000"/>
              </a:spcAft>
              <a:buSzPct val="100000"/>
              <a:buChar char="•"/>
            </a:pPr>
            <a:r>
              <a:rPr lang="en-US" sz="1500" dirty="0">
                <a:solidFill>
                  <a:srgbClr val="13201A"/>
                </a:solidFill>
                <a:latin typeface="Calibri" pitchFamily="34" charset="0"/>
                <a:ea typeface="Calibri" pitchFamily="34" charset="-122"/>
                <a:cs typeface="Calibri" pitchFamily="34" charset="-120"/>
              </a:rPr>
              <a:t>Not repeatable after every prompt change</a:t>
            </a:r>
            <a:endParaRPr lang="en-US" sz="1500" dirty="0"/>
          </a:p>
          <a:p>
            <a:pPr marL="342900" indent="-342900">
              <a:spcAft>
                <a:spcPts val="1000"/>
              </a:spcAft>
              <a:buSzPct val="100000"/>
              <a:buChar char="•"/>
            </a:pPr>
            <a:r>
              <a:rPr lang="en-US" sz="1500" dirty="0">
                <a:solidFill>
                  <a:srgbClr val="13201A"/>
                </a:solidFill>
                <a:latin typeface="Calibri" pitchFamily="34" charset="0"/>
                <a:ea typeface="Calibri" pitchFamily="34" charset="-122"/>
                <a:cs typeface="Calibri" pitchFamily="34" charset="-120"/>
              </a:rPr>
              <a:t>No score to say "safe to launch"</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5486400" cy="274320"/>
          </a:xfrm>
          <a:prstGeom prst="rect">
            <a:avLst/>
          </a:prstGeom>
          <a:noFill/>
          <a:ln/>
        </p:spPr>
        <p:txBody>
          <a:bodyPr wrap="square" lIns="0" tIns="0" rIns="0" bIns="0" rtlCol="0" anchor="ctr"/>
          <a:lstStyle/>
          <a:p>
            <a:pPr indent="0" marL="0">
              <a:buNone/>
            </a:pPr>
            <a:r>
              <a:rPr lang="en-US" sz="1200" b="1" spc="200" kern="0" dirty="0">
                <a:solidFill>
                  <a:srgbClr val="0F7A4A"/>
                </a:solidFill>
                <a:latin typeface="Calibri" pitchFamily="34" charset="0"/>
                <a:ea typeface="Calibri" pitchFamily="34" charset="-122"/>
                <a:cs typeface="Calibri" pitchFamily="34" charset="-120"/>
              </a:rPr>
              <a:t>WHAT</a:t>
            </a:r>
            <a:endParaRPr lang="en-US" sz="12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600" b="1" dirty="0">
                <a:solidFill>
                  <a:srgbClr val="13201A"/>
                </a:solidFill>
                <a:latin typeface="Cambria" pitchFamily="34" charset="0"/>
                <a:ea typeface="Cambria" pitchFamily="34" charset="-122"/>
                <a:cs typeface="Cambria" pitchFamily="34" charset="-120"/>
              </a:rPr>
              <a:t>An automated reliability guard for every AI bot</a:t>
            </a:r>
            <a:endParaRPr lang="en-US" sz="3600" dirty="0"/>
          </a:p>
        </p:txBody>
      </p:sp>
      <p:sp>
        <p:nvSpPr>
          <p:cNvPr id="4" name="Text 2"/>
          <p:cNvSpPr txBox="1"/>
          <p:nvPr/>
        </p:nvSpPr>
        <p:spPr>
          <a:xfrm>
            <a:off x="548640" y="1097280"/>
            <a:ext cx="11094415" cy="411480"/>
          </a:xfrm>
          <a:prstGeom prst="rect">
            <a:avLst/>
          </a:prstGeom>
          <a:noFill/>
          <a:ln/>
        </p:spPr>
        <p:txBody>
          <a:bodyPr wrap="square" lIns="0" tIns="0" rIns="0" bIns="0" rtlCol="0" anchor="ctr"/>
          <a:lstStyle/>
          <a:p>
            <a:pPr indent="0" marL="0">
              <a:buNone/>
            </a:pPr>
            <a:r>
              <a:rPr lang="en-US" sz="1600" dirty="0">
                <a:solidFill>
                  <a:srgbClr val="5F6F67"/>
                </a:solidFill>
                <a:latin typeface="Calibri" pitchFamily="34" charset="0"/>
                <a:ea typeface="Calibri" pitchFamily="34" charset="-122"/>
                <a:cs typeface="Calibri" pitchFamily="34" charset="-120"/>
              </a:rPr>
              <a:t>Objective: no AI reply reaches a customer until it has been attacked, judged and proven safe</a:t>
            </a:r>
            <a:endParaRPr lang="en-US" sz="1600" dirty="0"/>
          </a:p>
        </p:txBody>
      </p:sp>
      <p:sp>
        <p:nvSpPr>
          <p:cNvPr id="5" name="Shape 3"/>
          <p:cNvSpPr/>
          <p:nvPr/>
        </p:nvSpPr>
        <p:spPr>
          <a:xfrm>
            <a:off x="548640" y="2011680"/>
            <a:ext cx="3520440" cy="3566160"/>
          </a:xfrm>
          <a:prstGeom prst="roundRect">
            <a:avLst>
              <a:gd name="adj" fmla="val 3117"/>
            </a:avLst>
          </a:prstGeom>
          <a:solidFill>
            <a:srgbClr val="F3F6F4"/>
          </a:solidFill>
          <a:ln w="9525">
            <a:solidFill>
              <a:srgbClr val="DFE7E3"/>
            </a:solidFill>
            <a:prstDash val="solid"/>
          </a:ln>
        </p:spPr>
      </p:sp>
      <p:sp>
        <p:nvSpPr>
          <p:cNvPr id="6" name="Shape 4"/>
          <p:cNvSpPr/>
          <p:nvPr/>
        </p:nvSpPr>
        <p:spPr>
          <a:xfrm>
            <a:off x="868680" y="2286000"/>
            <a:ext cx="731520" cy="731520"/>
          </a:xfrm>
          <a:prstGeom prst="ellipse">
            <a:avLst/>
          </a:prstGeom>
          <a:solidFill>
            <a:srgbClr val="E0662B"/>
          </a:solidFill>
          <a:ln w="12700">
            <a:solidFill>
              <a:srgbClr val="E0662B"/>
            </a:solidFill>
            <a:prstDash val="solid"/>
          </a:ln>
        </p:spPr>
      </p:sp>
      <p:sp>
        <p:nvSpPr>
          <p:cNvPr id="7" name="Text 5"/>
          <p:cNvSpPr txBox="1"/>
          <p:nvPr/>
        </p:nvSpPr>
        <p:spPr>
          <a:xfrm>
            <a:off x="868680"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txBox="1"/>
          <p:nvPr/>
        </p:nvSpPr>
        <p:spPr>
          <a:xfrm>
            <a:off x="868680" y="3200400"/>
            <a:ext cx="2926080" cy="548640"/>
          </a:xfrm>
          <a:prstGeom prst="rect">
            <a:avLst/>
          </a:prstGeom>
          <a:noFill/>
          <a:ln/>
        </p:spPr>
        <p:txBody>
          <a:bodyPr wrap="square" lIns="0" tIns="0" rIns="0" bIns="0" rtlCol="0" anchor="ctr"/>
          <a:lstStyle/>
          <a:p>
            <a:pPr indent="0" marL="0">
              <a:buNone/>
            </a:pPr>
            <a:r>
              <a:rPr lang="en-US" sz="2600" b="1" dirty="0">
                <a:solidFill>
                  <a:srgbClr val="13201A"/>
                </a:solidFill>
                <a:latin typeface="Cambria" pitchFamily="34" charset="0"/>
                <a:ea typeface="Cambria" pitchFamily="34" charset="-122"/>
                <a:cs typeface="Cambria" pitchFamily="34" charset="-120"/>
              </a:rPr>
              <a:t>Catch</a:t>
            </a:r>
            <a:endParaRPr lang="en-US" sz="2600" dirty="0"/>
          </a:p>
        </p:txBody>
      </p:sp>
      <p:sp>
        <p:nvSpPr>
          <p:cNvPr id="9" name="Text 7"/>
          <p:cNvSpPr txBox="1"/>
          <p:nvPr/>
        </p:nvSpPr>
        <p:spPr>
          <a:xfrm>
            <a:off x="868680" y="3794760"/>
            <a:ext cx="2926080" cy="1645920"/>
          </a:xfrm>
          <a:prstGeom prst="rect">
            <a:avLst/>
          </a:prstGeom>
          <a:noFill/>
          <a:ln/>
        </p:spPr>
        <p:txBody>
          <a:bodyPr wrap="square" lIns="0" tIns="0" rIns="0" bIns="0" rtlCol="0" anchor="t"/>
          <a:lstStyle/>
          <a:p>
            <a:pPr indent="0" marL="0">
              <a:buNone/>
            </a:pPr>
            <a:r>
              <a:rPr lang="en-US" sz="1500" dirty="0">
                <a:solidFill>
                  <a:srgbClr val="5F6F67"/>
                </a:solidFill>
                <a:latin typeface="Calibri" pitchFamily="34" charset="0"/>
                <a:ea typeface="Calibri" pitchFamily="34" charset="-122"/>
                <a:cs typeface="Calibri" pitchFamily="34" charset="-120"/>
              </a:rPr>
              <a:t>An AI hacker writes realistic tricky questions across 15 attack types, including Hindi and Hinglish</a:t>
            </a:r>
            <a:endParaRPr lang="en-US" sz="1500" dirty="0"/>
          </a:p>
        </p:txBody>
      </p:sp>
      <p:sp>
        <p:nvSpPr>
          <p:cNvPr id="10" name="Shape 8"/>
          <p:cNvSpPr/>
          <p:nvPr/>
        </p:nvSpPr>
        <p:spPr>
          <a:xfrm>
            <a:off x="4297680" y="2011680"/>
            <a:ext cx="3520440" cy="3566160"/>
          </a:xfrm>
          <a:prstGeom prst="roundRect">
            <a:avLst>
              <a:gd name="adj" fmla="val 3117"/>
            </a:avLst>
          </a:prstGeom>
          <a:solidFill>
            <a:srgbClr val="F3F6F4"/>
          </a:solidFill>
          <a:ln w="9525">
            <a:solidFill>
              <a:srgbClr val="DFE7E3"/>
            </a:solidFill>
            <a:prstDash val="solid"/>
          </a:ln>
        </p:spPr>
      </p:sp>
      <p:sp>
        <p:nvSpPr>
          <p:cNvPr id="11" name="Shape 9"/>
          <p:cNvSpPr/>
          <p:nvPr/>
        </p:nvSpPr>
        <p:spPr>
          <a:xfrm>
            <a:off x="4617720" y="2286000"/>
            <a:ext cx="731520" cy="731520"/>
          </a:xfrm>
          <a:prstGeom prst="ellipse">
            <a:avLst/>
          </a:prstGeom>
          <a:solidFill>
            <a:srgbClr val="7B4FD6"/>
          </a:solidFill>
          <a:ln w="12700">
            <a:solidFill>
              <a:srgbClr val="7B4FD6"/>
            </a:solidFill>
            <a:prstDash val="solid"/>
          </a:ln>
        </p:spPr>
      </p:sp>
      <p:sp>
        <p:nvSpPr>
          <p:cNvPr id="12" name="Text 10"/>
          <p:cNvSpPr txBox="1"/>
          <p:nvPr/>
        </p:nvSpPr>
        <p:spPr>
          <a:xfrm>
            <a:off x="4617720"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txBox="1"/>
          <p:nvPr/>
        </p:nvSpPr>
        <p:spPr>
          <a:xfrm>
            <a:off x="4617720" y="3200400"/>
            <a:ext cx="2926080" cy="548640"/>
          </a:xfrm>
          <a:prstGeom prst="rect">
            <a:avLst/>
          </a:prstGeom>
          <a:noFill/>
          <a:ln/>
        </p:spPr>
        <p:txBody>
          <a:bodyPr wrap="square" lIns="0" tIns="0" rIns="0" bIns="0" rtlCol="0" anchor="ctr"/>
          <a:lstStyle/>
          <a:p>
            <a:pPr indent="0" marL="0">
              <a:buNone/>
            </a:pPr>
            <a:r>
              <a:rPr lang="en-US" sz="2600" b="1" dirty="0">
                <a:solidFill>
                  <a:srgbClr val="13201A"/>
                </a:solidFill>
                <a:latin typeface="Cambria" pitchFamily="34" charset="0"/>
                <a:ea typeface="Cambria" pitchFamily="34" charset="-122"/>
                <a:cs typeface="Cambria" pitchFamily="34" charset="-120"/>
              </a:rPr>
              <a:t>Prove</a:t>
            </a:r>
            <a:endParaRPr lang="en-US" sz="2600" dirty="0"/>
          </a:p>
        </p:txBody>
      </p:sp>
      <p:sp>
        <p:nvSpPr>
          <p:cNvPr id="14" name="Text 12"/>
          <p:cNvSpPr txBox="1"/>
          <p:nvPr/>
        </p:nvSpPr>
        <p:spPr>
          <a:xfrm>
            <a:off x="4617720" y="3794760"/>
            <a:ext cx="2926080" cy="1645920"/>
          </a:xfrm>
          <a:prstGeom prst="rect">
            <a:avLst/>
          </a:prstGeom>
          <a:noFill/>
          <a:ln/>
        </p:spPr>
        <p:txBody>
          <a:bodyPr wrap="square" lIns="0" tIns="0" rIns="0" bIns="0" rtlCol="0" anchor="t"/>
          <a:lstStyle/>
          <a:p>
            <a:pPr indent="0" marL="0">
              <a:buNone/>
            </a:pPr>
            <a:r>
              <a:rPr lang="en-US" sz="1500" dirty="0">
                <a:solidFill>
                  <a:srgbClr val="5F6F67"/>
                </a:solidFill>
                <a:latin typeface="Calibri" pitchFamily="34" charset="0"/>
                <a:ea typeface="Calibri" pitchFamily="34" charset="-122"/>
                <a:cs typeface="Calibri" pitchFamily="34" charset="-120"/>
              </a:rPr>
              <a:t>An AI judge scores every reply against the official policy and gives a pass rate: safe to launch at 80% or more</a:t>
            </a:r>
            <a:endParaRPr lang="en-US" sz="1500" dirty="0"/>
          </a:p>
        </p:txBody>
      </p:sp>
      <p:sp>
        <p:nvSpPr>
          <p:cNvPr id="15" name="Shape 13"/>
          <p:cNvSpPr/>
          <p:nvPr/>
        </p:nvSpPr>
        <p:spPr>
          <a:xfrm>
            <a:off x="8046720" y="2011680"/>
            <a:ext cx="3520440" cy="3566160"/>
          </a:xfrm>
          <a:prstGeom prst="roundRect">
            <a:avLst>
              <a:gd name="adj" fmla="val 3117"/>
            </a:avLst>
          </a:prstGeom>
          <a:solidFill>
            <a:srgbClr val="F3F6F4"/>
          </a:solidFill>
          <a:ln w="9525">
            <a:solidFill>
              <a:srgbClr val="DFE7E3"/>
            </a:solidFill>
            <a:prstDash val="solid"/>
          </a:ln>
        </p:spPr>
      </p:sp>
      <p:sp>
        <p:nvSpPr>
          <p:cNvPr id="16" name="Shape 14"/>
          <p:cNvSpPr/>
          <p:nvPr/>
        </p:nvSpPr>
        <p:spPr>
          <a:xfrm>
            <a:off x="8366760" y="2286000"/>
            <a:ext cx="731520" cy="731520"/>
          </a:xfrm>
          <a:prstGeom prst="ellipse">
            <a:avLst/>
          </a:prstGeom>
          <a:solidFill>
            <a:srgbClr val="0F9A5C"/>
          </a:solidFill>
          <a:ln w="12700">
            <a:solidFill>
              <a:srgbClr val="0F9A5C"/>
            </a:solidFill>
            <a:prstDash val="solid"/>
          </a:ln>
        </p:spPr>
      </p:sp>
      <p:sp>
        <p:nvSpPr>
          <p:cNvPr id="17" name="Text 15"/>
          <p:cNvSpPr txBox="1"/>
          <p:nvPr/>
        </p:nvSpPr>
        <p:spPr>
          <a:xfrm>
            <a:off x="8366760" y="22860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6"/>
          <p:cNvSpPr txBox="1"/>
          <p:nvPr/>
        </p:nvSpPr>
        <p:spPr>
          <a:xfrm>
            <a:off x="8366760" y="3200400"/>
            <a:ext cx="2926080" cy="548640"/>
          </a:xfrm>
          <a:prstGeom prst="rect">
            <a:avLst/>
          </a:prstGeom>
          <a:noFill/>
          <a:ln/>
        </p:spPr>
        <p:txBody>
          <a:bodyPr wrap="square" lIns="0" tIns="0" rIns="0" bIns="0" rtlCol="0" anchor="ctr"/>
          <a:lstStyle/>
          <a:p>
            <a:pPr indent="0" marL="0">
              <a:buNone/>
            </a:pPr>
            <a:r>
              <a:rPr lang="en-US" sz="2600" b="1" dirty="0">
                <a:solidFill>
                  <a:srgbClr val="13201A"/>
                </a:solidFill>
                <a:latin typeface="Cambria" pitchFamily="34" charset="0"/>
                <a:ea typeface="Cambria" pitchFamily="34" charset="-122"/>
                <a:cs typeface="Cambria" pitchFamily="34" charset="-120"/>
              </a:rPr>
              <a:t>Fix</a:t>
            </a:r>
            <a:endParaRPr lang="en-US" sz="2600" dirty="0"/>
          </a:p>
        </p:txBody>
      </p:sp>
      <p:sp>
        <p:nvSpPr>
          <p:cNvPr id="19" name="Text 17"/>
          <p:cNvSpPr txBox="1"/>
          <p:nvPr/>
        </p:nvSpPr>
        <p:spPr>
          <a:xfrm>
            <a:off x="8366760" y="3794760"/>
            <a:ext cx="2926080" cy="1645920"/>
          </a:xfrm>
          <a:prstGeom prst="rect">
            <a:avLst/>
          </a:prstGeom>
          <a:noFill/>
          <a:ln/>
        </p:spPr>
        <p:txBody>
          <a:bodyPr wrap="square" lIns="0" tIns="0" rIns="0" bIns="0" rtlCol="0" anchor="t"/>
          <a:lstStyle/>
          <a:p>
            <a:pPr indent="0" marL="0">
              <a:buNone/>
            </a:pPr>
            <a:r>
              <a:rPr lang="en-US" sz="1500" dirty="0">
                <a:solidFill>
                  <a:srgbClr val="5F6F67"/>
                </a:solidFill>
                <a:latin typeface="Calibri" pitchFamily="34" charset="0"/>
                <a:ea typeface="Calibri" pitchFamily="34" charset="-122"/>
                <a:cs typeface="Calibri" pitchFamily="34" charset="-120"/>
              </a:rPr>
              <a:t>An AI auto-fixer finds why the bot failed, rewrites its instructions and re-tests until it is safe</a:t>
            </a:r>
            <a:endParaRPr lang="en-US" sz="1500" dirty="0"/>
          </a:p>
        </p:txBody>
      </p:sp>
      <p:sp>
        <p:nvSpPr>
          <p:cNvPr id="20" name="Text 18"/>
          <p:cNvSpPr txBox="1"/>
          <p:nvPr/>
        </p:nvSpPr>
        <p:spPr>
          <a:xfrm>
            <a:off x="548640" y="5852160"/>
            <a:ext cx="10972800" cy="457200"/>
          </a:xfrm>
          <a:prstGeom prst="rect">
            <a:avLst/>
          </a:prstGeom>
          <a:noFill/>
          <a:ln/>
        </p:spPr>
        <p:txBody>
          <a:bodyPr wrap="square" lIns="0" tIns="0" rIns="0" bIns="0" rtlCol="0" anchor="ctr"/>
          <a:lstStyle/>
          <a:p>
            <a:pPr indent="0" marL="0">
              <a:buNone/>
            </a:pPr>
            <a:r>
              <a:rPr lang="en-US" sz="1600" b="1" dirty="0">
                <a:solidFill>
                  <a:srgbClr val="0F7A4A"/>
                </a:solidFill>
                <a:latin typeface="Calibri" pitchFamily="34" charset="0"/>
                <a:ea typeface="Calibri" pitchFamily="34" charset="-122"/>
                <a:cs typeface="Calibri" pitchFamily="34" charset="-120"/>
              </a:rPr>
              <a:t>Business idea: run KarmaGuard before every release and every night on every AI feature we ship.</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5486400" cy="274320"/>
          </a:xfrm>
          <a:prstGeom prst="rect">
            <a:avLst/>
          </a:prstGeom>
          <a:noFill/>
          <a:ln/>
        </p:spPr>
        <p:txBody>
          <a:bodyPr wrap="square" lIns="0" tIns="0" rIns="0" bIns="0" rtlCol="0" anchor="ctr"/>
          <a:lstStyle/>
          <a:p>
            <a:pPr indent="0" marL="0">
              <a:buNone/>
            </a:pPr>
            <a:r>
              <a:rPr lang="en-US" sz="1200" b="1" spc="200" kern="0" dirty="0">
                <a:solidFill>
                  <a:srgbClr val="0F7A4A"/>
                </a:solidFill>
                <a:latin typeface="Calibri" pitchFamily="34" charset="0"/>
                <a:ea typeface="Calibri" pitchFamily="34" charset="-122"/>
                <a:cs typeface="Calibri" pitchFamily="34" charset="-120"/>
              </a:rPr>
              <a:t>HOW</a:t>
            </a:r>
            <a:endParaRPr lang="en-US" sz="12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600" b="1" dirty="0">
                <a:solidFill>
                  <a:srgbClr val="13201A"/>
                </a:solidFill>
                <a:latin typeface="Cambria" pitchFamily="34" charset="0"/>
                <a:ea typeface="Cambria" pitchFamily="34" charset="-122"/>
                <a:cs typeface="Cambria" pitchFamily="34" charset="-120"/>
              </a:rPr>
              <a:t>Four agents in a closed loop</a:t>
            </a:r>
            <a:endParaRPr lang="en-US" sz="3600" dirty="0"/>
          </a:p>
        </p:txBody>
      </p:sp>
      <p:sp>
        <p:nvSpPr>
          <p:cNvPr id="4" name="Text 2"/>
          <p:cNvSpPr txBox="1"/>
          <p:nvPr/>
        </p:nvSpPr>
        <p:spPr>
          <a:xfrm>
            <a:off x="548640" y="1097280"/>
            <a:ext cx="11094415" cy="411480"/>
          </a:xfrm>
          <a:prstGeom prst="rect">
            <a:avLst/>
          </a:prstGeom>
          <a:noFill/>
          <a:ln/>
        </p:spPr>
        <p:txBody>
          <a:bodyPr wrap="square" lIns="0" tIns="0" rIns="0" bIns="0" rtlCol="0" anchor="ctr"/>
          <a:lstStyle/>
          <a:p>
            <a:pPr indent="0" marL="0">
              <a:buNone/>
            </a:pPr>
            <a:r>
              <a:rPr lang="en-US" sz="1600" dirty="0">
                <a:solidFill>
                  <a:srgbClr val="5F6F67"/>
                </a:solidFill>
                <a:latin typeface="Calibri" pitchFamily="34" charset="0"/>
                <a:ea typeface="Calibri" pitchFamily="34" charset="-122"/>
                <a:cs typeface="Calibri" pitchFamily="34" charset="-120"/>
              </a:rPr>
              <a:t>Each agent is Claude with a different role; the loop runs on its own until the bot is safe</a:t>
            </a:r>
            <a:endParaRPr lang="en-US" sz="1600" dirty="0"/>
          </a:p>
        </p:txBody>
      </p:sp>
      <p:sp>
        <p:nvSpPr>
          <p:cNvPr id="5" name="Shape 3"/>
          <p:cNvSpPr/>
          <p:nvPr/>
        </p:nvSpPr>
        <p:spPr>
          <a:xfrm>
            <a:off x="1417320" y="1920240"/>
            <a:ext cx="914400" cy="914400"/>
          </a:xfrm>
          <a:prstGeom prst="ellipse">
            <a:avLst/>
          </a:prstGeom>
          <a:solidFill>
            <a:srgbClr val="E0662B"/>
          </a:solidFill>
          <a:ln w="12700">
            <a:solidFill>
              <a:srgbClr val="E0662B"/>
            </a:solidFill>
            <a:prstDash val="solid"/>
          </a:ln>
        </p:spPr>
      </p:sp>
      <p:sp>
        <p:nvSpPr>
          <p:cNvPr id="6" name="Text 4"/>
          <p:cNvSpPr txBox="1"/>
          <p:nvPr/>
        </p:nvSpPr>
        <p:spPr>
          <a:xfrm>
            <a:off x="1417320" y="1920240"/>
            <a:ext cx="91440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7" name="Text 5"/>
          <p:cNvSpPr txBox="1"/>
          <p:nvPr/>
        </p:nvSpPr>
        <p:spPr>
          <a:xfrm>
            <a:off x="548640" y="2926080"/>
            <a:ext cx="2651760" cy="457200"/>
          </a:xfrm>
          <a:prstGeom prst="rect">
            <a:avLst/>
          </a:prstGeom>
          <a:noFill/>
          <a:ln/>
        </p:spPr>
        <p:txBody>
          <a:bodyPr wrap="square" lIns="0" tIns="0" rIns="0" bIns="0" rtlCol="0" anchor="ctr"/>
          <a:lstStyle/>
          <a:p>
            <a:pPr algn="ctr" indent="0" marL="0">
              <a:buNone/>
            </a:pPr>
            <a:r>
              <a:rPr lang="en-US" sz="2000" b="1" dirty="0">
                <a:solidFill>
                  <a:srgbClr val="13201A"/>
                </a:solidFill>
                <a:latin typeface="Cambria" pitchFamily="34" charset="0"/>
                <a:ea typeface="Cambria" pitchFamily="34" charset="-122"/>
                <a:cs typeface="Cambria" pitchFamily="34" charset="-120"/>
              </a:rPr>
              <a:t>Hacker</a:t>
            </a:r>
            <a:endParaRPr lang="en-US" sz="2000" dirty="0"/>
          </a:p>
        </p:txBody>
      </p:sp>
      <p:sp>
        <p:nvSpPr>
          <p:cNvPr id="8" name="Text 6"/>
          <p:cNvSpPr txBox="1"/>
          <p:nvPr/>
        </p:nvSpPr>
        <p:spPr>
          <a:xfrm>
            <a:off x="640080" y="3383280"/>
            <a:ext cx="2468880" cy="1097280"/>
          </a:xfrm>
          <a:prstGeom prst="rect">
            <a:avLst/>
          </a:prstGeom>
          <a:noFill/>
          <a:ln/>
        </p:spPr>
        <p:txBody>
          <a:bodyPr wrap="square" lIns="0" tIns="0" rIns="0" bIns="0" rtlCol="0" anchor="t"/>
          <a:lstStyle/>
          <a:p>
            <a:pPr algn="ctr" indent="0" marL="0">
              <a:buNone/>
            </a:pPr>
            <a:r>
              <a:rPr lang="en-US" sz="1400" dirty="0">
                <a:solidFill>
                  <a:srgbClr val="5F6F67"/>
                </a:solidFill>
                <a:latin typeface="Calibri" pitchFamily="34" charset="0"/>
                <a:ea typeface="Calibri" pitchFamily="34" charset="-122"/>
                <a:cs typeface="Calibri" pitchFamily="34" charset="-120"/>
              </a:rPr>
              <a:t>Writes tricky customer messages with an expected safe answer and a severity</a:t>
            </a:r>
            <a:endParaRPr lang="en-US" sz="1400" dirty="0"/>
          </a:p>
        </p:txBody>
      </p:sp>
      <p:sp>
        <p:nvSpPr>
          <p:cNvPr id="9" name="Shape 7"/>
          <p:cNvSpPr/>
          <p:nvPr/>
        </p:nvSpPr>
        <p:spPr>
          <a:xfrm>
            <a:off x="2697480" y="2240280"/>
            <a:ext cx="594360" cy="274320"/>
          </a:xfrm>
          <a:prstGeom prst="rightArrow">
            <a:avLst/>
          </a:prstGeom>
          <a:solidFill>
            <a:srgbClr val="DFE7E3"/>
          </a:solidFill>
          <a:ln w="12700">
            <a:solidFill>
              <a:srgbClr val="DFE7E3"/>
            </a:solidFill>
            <a:prstDash val="solid"/>
          </a:ln>
        </p:spPr>
      </p:sp>
      <p:sp>
        <p:nvSpPr>
          <p:cNvPr id="10" name="Shape 8"/>
          <p:cNvSpPr/>
          <p:nvPr/>
        </p:nvSpPr>
        <p:spPr>
          <a:xfrm>
            <a:off x="4343400" y="1920240"/>
            <a:ext cx="914400" cy="914400"/>
          </a:xfrm>
          <a:prstGeom prst="ellipse">
            <a:avLst/>
          </a:prstGeom>
          <a:solidFill>
            <a:srgbClr val="1F7FBF"/>
          </a:solidFill>
          <a:ln w="12700">
            <a:solidFill>
              <a:srgbClr val="1F7FBF"/>
            </a:solidFill>
            <a:prstDash val="solid"/>
          </a:ln>
        </p:spPr>
      </p:sp>
      <p:sp>
        <p:nvSpPr>
          <p:cNvPr id="11" name="Text 9"/>
          <p:cNvSpPr txBox="1"/>
          <p:nvPr/>
        </p:nvSpPr>
        <p:spPr>
          <a:xfrm>
            <a:off x="4343400" y="1920240"/>
            <a:ext cx="91440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2" name="Text 10"/>
          <p:cNvSpPr txBox="1"/>
          <p:nvPr/>
        </p:nvSpPr>
        <p:spPr>
          <a:xfrm>
            <a:off x="3474720" y="2926080"/>
            <a:ext cx="2651760" cy="457200"/>
          </a:xfrm>
          <a:prstGeom prst="rect">
            <a:avLst/>
          </a:prstGeom>
          <a:noFill/>
          <a:ln/>
        </p:spPr>
        <p:txBody>
          <a:bodyPr wrap="square" lIns="0" tIns="0" rIns="0" bIns="0" rtlCol="0" anchor="ctr"/>
          <a:lstStyle/>
          <a:p>
            <a:pPr algn="ctr" indent="0" marL="0">
              <a:buNone/>
            </a:pPr>
            <a:r>
              <a:rPr lang="en-US" sz="2000" b="1" dirty="0">
                <a:solidFill>
                  <a:srgbClr val="13201A"/>
                </a:solidFill>
                <a:latin typeface="Cambria" pitchFamily="34" charset="0"/>
                <a:ea typeface="Cambria" pitchFamily="34" charset="-122"/>
                <a:cs typeface="Cambria" pitchFamily="34" charset="-120"/>
              </a:rPr>
              <a:t>Support bot</a:t>
            </a:r>
            <a:endParaRPr lang="en-US" sz="2000" dirty="0"/>
          </a:p>
        </p:txBody>
      </p:sp>
      <p:sp>
        <p:nvSpPr>
          <p:cNvPr id="13" name="Text 11"/>
          <p:cNvSpPr txBox="1"/>
          <p:nvPr/>
        </p:nvSpPr>
        <p:spPr>
          <a:xfrm>
            <a:off x="3566160" y="3383280"/>
            <a:ext cx="2468880" cy="1097280"/>
          </a:xfrm>
          <a:prstGeom prst="rect">
            <a:avLst/>
          </a:prstGeom>
          <a:noFill/>
          <a:ln/>
        </p:spPr>
        <p:txBody>
          <a:bodyPr wrap="square" lIns="0" tIns="0" rIns="0" bIns="0" rtlCol="0" anchor="t"/>
          <a:lstStyle/>
          <a:p>
            <a:pPr algn="ctr" indent="0" marL="0">
              <a:buNone/>
            </a:pPr>
            <a:r>
              <a:rPr lang="en-US" sz="1400" dirty="0">
                <a:solidFill>
                  <a:srgbClr val="5F6F67"/>
                </a:solidFill>
                <a:latin typeface="Calibri" pitchFamily="34" charset="0"/>
                <a:ea typeface="Calibri" pitchFamily="34" charset="-122"/>
                <a:cs typeface="Calibri" pitchFamily="34" charset="-120"/>
              </a:rPr>
              <a:t>The bot under test answers like it would for a real customer</a:t>
            </a:r>
            <a:endParaRPr lang="en-US" sz="1400" dirty="0"/>
          </a:p>
        </p:txBody>
      </p:sp>
      <p:sp>
        <p:nvSpPr>
          <p:cNvPr id="14" name="Shape 12"/>
          <p:cNvSpPr/>
          <p:nvPr/>
        </p:nvSpPr>
        <p:spPr>
          <a:xfrm>
            <a:off x="5623560" y="2240280"/>
            <a:ext cx="594360" cy="274320"/>
          </a:xfrm>
          <a:prstGeom prst="rightArrow">
            <a:avLst/>
          </a:prstGeom>
          <a:solidFill>
            <a:srgbClr val="DFE7E3"/>
          </a:solidFill>
          <a:ln w="12700">
            <a:solidFill>
              <a:srgbClr val="DFE7E3"/>
            </a:solidFill>
            <a:prstDash val="solid"/>
          </a:ln>
        </p:spPr>
      </p:sp>
      <p:sp>
        <p:nvSpPr>
          <p:cNvPr id="15" name="Shape 13"/>
          <p:cNvSpPr/>
          <p:nvPr/>
        </p:nvSpPr>
        <p:spPr>
          <a:xfrm>
            <a:off x="7269480" y="1920240"/>
            <a:ext cx="914400" cy="914400"/>
          </a:xfrm>
          <a:prstGeom prst="ellipse">
            <a:avLst/>
          </a:prstGeom>
          <a:solidFill>
            <a:srgbClr val="7B4FD6"/>
          </a:solidFill>
          <a:ln w="12700">
            <a:solidFill>
              <a:srgbClr val="7B4FD6"/>
            </a:solidFill>
            <a:prstDash val="solid"/>
          </a:ln>
        </p:spPr>
      </p:sp>
      <p:sp>
        <p:nvSpPr>
          <p:cNvPr id="16" name="Text 14"/>
          <p:cNvSpPr txBox="1"/>
          <p:nvPr/>
        </p:nvSpPr>
        <p:spPr>
          <a:xfrm>
            <a:off x="7269480" y="1920240"/>
            <a:ext cx="91440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7" name="Text 15"/>
          <p:cNvSpPr txBox="1"/>
          <p:nvPr/>
        </p:nvSpPr>
        <p:spPr>
          <a:xfrm>
            <a:off x="6400800" y="2926080"/>
            <a:ext cx="2651760" cy="457200"/>
          </a:xfrm>
          <a:prstGeom prst="rect">
            <a:avLst/>
          </a:prstGeom>
          <a:noFill/>
          <a:ln/>
        </p:spPr>
        <p:txBody>
          <a:bodyPr wrap="square" lIns="0" tIns="0" rIns="0" bIns="0" rtlCol="0" anchor="ctr"/>
          <a:lstStyle/>
          <a:p>
            <a:pPr algn="ctr" indent="0" marL="0">
              <a:buNone/>
            </a:pPr>
            <a:r>
              <a:rPr lang="en-US" sz="2000" b="1" dirty="0">
                <a:solidFill>
                  <a:srgbClr val="13201A"/>
                </a:solidFill>
                <a:latin typeface="Cambria" pitchFamily="34" charset="0"/>
                <a:ea typeface="Cambria" pitchFamily="34" charset="-122"/>
                <a:cs typeface="Cambria" pitchFamily="34" charset="-120"/>
              </a:rPr>
              <a:t>Judge</a:t>
            </a:r>
            <a:endParaRPr lang="en-US" sz="2000" dirty="0"/>
          </a:p>
        </p:txBody>
      </p:sp>
      <p:sp>
        <p:nvSpPr>
          <p:cNvPr id="18" name="Text 16"/>
          <p:cNvSpPr txBox="1"/>
          <p:nvPr/>
        </p:nvSpPr>
        <p:spPr>
          <a:xfrm>
            <a:off x="6492240" y="3383280"/>
            <a:ext cx="2468880" cy="1097280"/>
          </a:xfrm>
          <a:prstGeom prst="rect">
            <a:avLst/>
          </a:prstGeom>
          <a:noFill/>
          <a:ln/>
        </p:spPr>
        <p:txBody>
          <a:bodyPr wrap="square" lIns="0" tIns="0" rIns="0" bIns="0" rtlCol="0" anchor="t"/>
          <a:lstStyle/>
          <a:p>
            <a:pPr algn="ctr" indent="0" marL="0">
              <a:buNone/>
            </a:pPr>
            <a:r>
              <a:rPr lang="en-US" sz="1400" dirty="0">
                <a:solidFill>
                  <a:srgbClr val="5F6F67"/>
                </a:solidFill>
                <a:latin typeface="Calibri" pitchFamily="34" charset="0"/>
                <a:ea typeface="Calibri" pitchFamily="34" charset="-122"/>
                <a:cs typeface="Calibri" pitchFamily="34" charset="-120"/>
              </a:rPr>
              <a:t>Scores 1 to 5 on accuracy, policy, hallucination, privacy and injection</a:t>
            </a:r>
            <a:endParaRPr lang="en-US" sz="1400" dirty="0"/>
          </a:p>
        </p:txBody>
      </p:sp>
      <p:sp>
        <p:nvSpPr>
          <p:cNvPr id="19" name="Shape 17"/>
          <p:cNvSpPr/>
          <p:nvPr/>
        </p:nvSpPr>
        <p:spPr>
          <a:xfrm>
            <a:off x="8549640" y="2240280"/>
            <a:ext cx="594360" cy="274320"/>
          </a:xfrm>
          <a:prstGeom prst="rightArrow">
            <a:avLst/>
          </a:prstGeom>
          <a:solidFill>
            <a:srgbClr val="DFE7E3"/>
          </a:solidFill>
          <a:ln w="12700">
            <a:solidFill>
              <a:srgbClr val="DFE7E3"/>
            </a:solidFill>
            <a:prstDash val="solid"/>
          </a:ln>
        </p:spPr>
      </p:sp>
      <p:sp>
        <p:nvSpPr>
          <p:cNvPr id="20" name="Shape 18"/>
          <p:cNvSpPr/>
          <p:nvPr/>
        </p:nvSpPr>
        <p:spPr>
          <a:xfrm>
            <a:off x="10195560" y="1920240"/>
            <a:ext cx="914400" cy="914400"/>
          </a:xfrm>
          <a:prstGeom prst="ellipse">
            <a:avLst/>
          </a:prstGeom>
          <a:solidFill>
            <a:srgbClr val="0F9A5C"/>
          </a:solidFill>
          <a:ln w="12700">
            <a:solidFill>
              <a:srgbClr val="0F9A5C"/>
            </a:solidFill>
            <a:prstDash val="solid"/>
          </a:ln>
        </p:spPr>
      </p:sp>
      <p:sp>
        <p:nvSpPr>
          <p:cNvPr id="21" name="Text 19"/>
          <p:cNvSpPr txBox="1"/>
          <p:nvPr/>
        </p:nvSpPr>
        <p:spPr>
          <a:xfrm>
            <a:off x="10195560" y="1920240"/>
            <a:ext cx="91440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22" name="Text 20"/>
          <p:cNvSpPr txBox="1"/>
          <p:nvPr/>
        </p:nvSpPr>
        <p:spPr>
          <a:xfrm>
            <a:off x="9326880" y="2926080"/>
            <a:ext cx="2651760" cy="457200"/>
          </a:xfrm>
          <a:prstGeom prst="rect">
            <a:avLst/>
          </a:prstGeom>
          <a:noFill/>
          <a:ln/>
        </p:spPr>
        <p:txBody>
          <a:bodyPr wrap="square" lIns="0" tIns="0" rIns="0" bIns="0" rtlCol="0" anchor="ctr"/>
          <a:lstStyle/>
          <a:p>
            <a:pPr algn="ctr" indent="0" marL="0">
              <a:buNone/>
            </a:pPr>
            <a:r>
              <a:rPr lang="en-US" sz="2000" b="1" dirty="0">
                <a:solidFill>
                  <a:srgbClr val="13201A"/>
                </a:solidFill>
                <a:latin typeface="Cambria" pitchFamily="34" charset="0"/>
                <a:ea typeface="Cambria" pitchFamily="34" charset="-122"/>
                <a:cs typeface="Cambria" pitchFamily="34" charset="-120"/>
              </a:rPr>
              <a:t>Auto-fix</a:t>
            </a:r>
            <a:endParaRPr lang="en-US" sz="2000" dirty="0"/>
          </a:p>
        </p:txBody>
      </p:sp>
      <p:sp>
        <p:nvSpPr>
          <p:cNvPr id="23" name="Text 21"/>
          <p:cNvSpPr txBox="1"/>
          <p:nvPr/>
        </p:nvSpPr>
        <p:spPr>
          <a:xfrm>
            <a:off x="9418320" y="3383280"/>
            <a:ext cx="2468880" cy="1097280"/>
          </a:xfrm>
          <a:prstGeom prst="rect">
            <a:avLst/>
          </a:prstGeom>
          <a:noFill/>
          <a:ln/>
        </p:spPr>
        <p:txBody>
          <a:bodyPr wrap="square" lIns="0" tIns="0" rIns="0" bIns="0" rtlCol="0" anchor="t"/>
          <a:lstStyle/>
          <a:p>
            <a:pPr algn="ctr" indent="0" marL="0">
              <a:buNone/>
            </a:pPr>
            <a:r>
              <a:rPr lang="en-US" sz="1400" dirty="0">
                <a:solidFill>
                  <a:srgbClr val="5F6F67"/>
                </a:solidFill>
                <a:latin typeface="Calibri" pitchFamily="34" charset="0"/>
                <a:ea typeface="Calibri" pitchFamily="34" charset="-122"/>
                <a:cs typeface="Calibri" pitchFamily="34" charset="-120"/>
              </a:rPr>
              <a:t>Explains each weakness and rewrites the bot instructions</a:t>
            </a:r>
            <a:endParaRPr lang="en-US" sz="1400" dirty="0"/>
          </a:p>
        </p:txBody>
      </p:sp>
      <p:sp>
        <p:nvSpPr>
          <p:cNvPr id="24" name="Shape 22"/>
          <p:cNvSpPr/>
          <p:nvPr/>
        </p:nvSpPr>
        <p:spPr>
          <a:xfrm>
            <a:off x="548640" y="4754880"/>
            <a:ext cx="11109960" cy="1325880"/>
          </a:xfrm>
          <a:prstGeom prst="roundRect">
            <a:avLst>
              <a:gd name="adj" fmla="val 8276"/>
            </a:avLst>
          </a:prstGeom>
          <a:solidFill>
            <a:srgbClr val="E2F3EA"/>
          </a:solidFill>
          <a:ln w="9525">
            <a:solidFill>
              <a:srgbClr val="DFE7E3"/>
            </a:solidFill>
            <a:prstDash val="solid"/>
          </a:ln>
        </p:spPr>
      </p:sp>
      <p:sp>
        <p:nvSpPr>
          <p:cNvPr id="25" name="Text 23"/>
          <p:cNvSpPr txBox="1"/>
          <p:nvPr/>
        </p:nvSpPr>
        <p:spPr>
          <a:xfrm>
            <a:off x="822960" y="4892040"/>
            <a:ext cx="10607040" cy="1051560"/>
          </a:xfrm>
          <a:prstGeom prst="rect">
            <a:avLst/>
          </a:prstGeom>
          <a:noFill/>
          <a:ln/>
        </p:spPr>
        <p:txBody>
          <a:bodyPr wrap="square" lIns="0" tIns="0" rIns="0" bIns="0" rtlCol="0" anchor="ctr"/>
          <a:lstStyle/>
          <a:p>
            <a:pPr indent="0" marL="0">
              <a:buNone/>
            </a:pPr>
            <a:r>
              <a:rPr lang="en-US" sz="1600" b="1" dirty="0">
                <a:solidFill>
                  <a:srgbClr val="0F7A4A"/>
                </a:solidFill>
                <a:latin typeface="Calibri" pitchFamily="34" charset="0"/>
                <a:ea typeface="Calibri" pitchFamily="34" charset="-122"/>
                <a:cs typeface="Calibri" pitchFamily="34" charset="-120"/>
              </a:rPr>
              <a:t>Autopilot: </a:t>
            </a:r>
            <a:pPr indent="0" marL="0">
              <a:buNone/>
            </a:pPr>
            <a:r>
              <a:rPr lang="en-US" sz="1600" dirty="0">
                <a:solidFill>
                  <a:srgbClr val="13201A"/>
                </a:solidFill>
                <a:latin typeface="Calibri" pitchFamily="34" charset="0"/>
                <a:ea typeface="Calibri" pitchFamily="34" charset="-122"/>
                <a:cs typeface="Calibri" pitchFamily="34" charset="-120"/>
              </a:rPr>
              <a:t>attack → judge → fix → re-test the same attacks, until the pass rate is at least 80% (max 3 rounds). </a:t>
            </a:r>
            <a:pPr indent="0" marL="0">
              <a:buNone/>
            </a:pPr>
            <a:r>
              <a:rPr lang="en-US" sz="1600" b="1" dirty="0">
                <a:solidFill>
                  <a:srgbClr val="0F7A4A"/>
                </a:solidFill>
                <a:latin typeface="Calibri" pitchFamily="34" charset="0"/>
                <a:ea typeface="Calibri" pitchFamily="34" charset="-122"/>
                <a:cs typeface="Calibri" pitchFamily="34" charset="-120"/>
              </a:rPr>
              <a:t>Harder attacks: </a:t>
            </a:r>
            <a:pPr indent="0" marL="0">
              <a:buNone/>
            </a:pPr>
            <a:r>
              <a:rPr lang="en-US" sz="1600" dirty="0">
                <a:solidFill>
                  <a:srgbClr val="13201A"/>
                </a:solidFill>
                <a:latin typeface="Calibri" pitchFamily="34" charset="0"/>
                <a:ea typeface="Calibri" pitchFamily="34" charset="-122"/>
                <a:cs typeface="Calibri" pitchFamily="34" charset="-120"/>
              </a:rPr>
              <a:t>the hacker studies near misses and digs deeper into the same weak spots.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5486400" cy="274320"/>
          </a:xfrm>
          <a:prstGeom prst="rect">
            <a:avLst/>
          </a:prstGeom>
          <a:noFill/>
          <a:ln/>
        </p:spPr>
        <p:txBody>
          <a:bodyPr wrap="square" lIns="0" tIns="0" rIns="0" bIns="0" rtlCol="0" anchor="ctr"/>
          <a:lstStyle/>
          <a:p>
            <a:pPr indent="0" marL="0">
              <a:buNone/>
            </a:pPr>
            <a:r>
              <a:rPr lang="en-US" sz="1200" b="1" spc="200" kern="0" dirty="0">
                <a:solidFill>
                  <a:srgbClr val="0F7A4A"/>
                </a:solidFill>
                <a:latin typeface="Calibri" pitchFamily="34" charset="0"/>
                <a:ea typeface="Calibri" pitchFamily="34" charset="-122"/>
                <a:cs typeface="Calibri" pitchFamily="34" charset="-120"/>
              </a:rPr>
              <a:t>HOW</a:t>
            </a:r>
            <a:endParaRPr lang="en-US" sz="12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600" b="1" dirty="0">
                <a:solidFill>
                  <a:srgbClr val="13201A"/>
                </a:solidFill>
                <a:latin typeface="Cambria" pitchFamily="34" charset="0"/>
                <a:ea typeface="Cambria" pitchFamily="34" charset="-122"/>
                <a:cs typeface="Cambria" pitchFamily="34" charset="-120"/>
              </a:rPr>
              <a:t>Implementation</a:t>
            </a:r>
            <a:endParaRPr lang="en-US" sz="3600" dirty="0"/>
          </a:p>
        </p:txBody>
      </p:sp>
      <p:sp>
        <p:nvSpPr>
          <p:cNvPr id="4" name="Text 2"/>
          <p:cNvSpPr txBox="1"/>
          <p:nvPr/>
        </p:nvSpPr>
        <p:spPr>
          <a:xfrm>
            <a:off x="548640" y="1097280"/>
            <a:ext cx="11094415" cy="411480"/>
          </a:xfrm>
          <a:prstGeom prst="rect">
            <a:avLst/>
          </a:prstGeom>
          <a:noFill/>
          <a:ln/>
        </p:spPr>
        <p:txBody>
          <a:bodyPr wrap="square" lIns="0" tIns="0" rIns="0" bIns="0" rtlCol="0" anchor="ctr"/>
          <a:lstStyle/>
          <a:p>
            <a:pPr indent="0" marL="0">
              <a:buNone/>
            </a:pPr>
            <a:r>
              <a:rPr lang="en-US" sz="1600" dirty="0">
                <a:solidFill>
                  <a:srgbClr val="5F6F67"/>
                </a:solidFill>
                <a:latin typeface="Calibri" pitchFamily="34" charset="0"/>
                <a:ea typeface="Calibri" pitchFamily="34" charset="-122"/>
                <a:cs typeface="Calibri" pitchFamily="34" charset="-120"/>
              </a:rPr>
              <a:t>Built and tested live today; no API key needed to run it</a:t>
            </a:r>
            <a:endParaRPr lang="en-US" sz="1600" dirty="0"/>
          </a:p>
        </p:txBody>
      </p:sp>
      <p:sp>
        <p:nvSpPr>
          <p:cNvPr id="5" name="Shape 3"/>
          <p:cNvSpPr/>
          <p:nvPr/>
        </p:nvSpPr>
        <p:spPr>
          <a:xfrm>
            <a:off x="548640" y="1828800"/>
            <a:ext cx="5486400" cy="4297680"/>
          </a:xfrm>
          <a:prstGeom prst="roundRect">
            <a:avLst>
              <a:gd name="adj" fmla="val 2553"/>
            </a:avLst>
          </a:prstGeom>
          <a:solidFill>
            <a:srgbClr val="F3F6F4"/>
          </a:solidFill>
          <a:ln w="9525">
            <a:solidFill>
              <a:srgbClr val="DFE7E3"/>
            </a:solidFill>
            <a:prstDash val="solid"/>
          </a:ln>
        </p:spPr>
      </p:sp>
      <p:sp>
        <p:nvSpPr>
          <p:cNvPr id="6" name="Text 4"/>
          <p:cNvSpPr txBox="1"/>
          <p:nvPr/>
        </p:nvSpPr>
        <p:spPr>
          <a:xfrm>
            <a:off x="822960" y="2011680"/>
            <a:ext cx="4937760" cy="457200"/>
          </a:xfrm>
          <a:prstGeom prst="rect">
            <a:avLst/>
          </a:prstGeom>
          <a:noFill/>
          <a:ln/>
        </p:spPr>
        <p:txBody>
          <a:bodyPr wrap="square" lIns="0" tIns="0" rIns="0" bIns="0" rtlCol="0" anchor="ctr"/>
          <a:lstStyle/>
          <a:p>
            <a:pPr indent="0" marL="0">
              <a:buNone/>
            </a:pPr>
            <a:r>
              <a:rPr lang="en-US" sz="2000" b="1" dirty="0">
                <a:solidFill>
                  <a:srgbClr val="13201A"/>
                </a:solidFill>
                <a:latin typeface="Cambria" pitchFamily="34" charset="0"/>
                <a:ea typeface="Cambria" pitchFamily="34" charset="-122"/>
                <a:cs typeface="Cambria" pitchFamily="34" charset="-120"/>
              </a:rPr>
              <a:t>Under the hood</a:t>
            </a:r>
            <a:endParaRPr lang="en-US" sz="2000" dirty="0"/>
          </a:p>
        </p:txBody>
      </p:sp>
      <p:sp>
        <p:nvSpPr>
          <p:cNvPr id="7" name="Text 5"/>
          <p:cNvSpPr txBox="1"/>
          <p:nvPr/>
        </p:nvSpPr>
        <p:spPr>
          <a:xfrm>
            <a:off x="822960" y="2560320"/>
            <a:ext cx="5029200" cy="33832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3201A"/>
                </a:solidFill>
                <a:latin typeface="Calibri" pitchFamily="34" charset="0"/>
                <a:ea typeface="Calibri" pitchFamily="34" charset="-122"/>
                <a:cs typeface="Calibri" pitchFamily="34" charset="-120"/>
              </a:rPr>
              <a:t>Each agent is a headless Claude Code call with its own system prompt</a:t>
            </a:r>
            <a:endParaRPr lang="en-US" sz="1500" dirty="0"/>
          </a:p>
          <a:p>
            <a:pPr marL="342900" indent="-342900">
              <a:spcAft>
                <a:spcPts val="1000"/>
              </a:spcAft>
              <a:buSzPct val="100000"/>
              <a:buChar char="•"/>
            </a:pPr>
            <a:r>
              <a:rPr lang="en-US" sz="1500" dirty="0">
                <a:solidFill>
                  <a:srgbClr val="13201A"/>
                </a:solidFill>
                <a:latin typeface="Calibri" pitchFamily="34" charset="0"/>
                <a:ea typeface="Calibri" pitchFamily="34" charset="-122"/>
                <a:cs typeface="Calibri" pitchFamily="34" charset="-120"/>
              </a:rPr>
              <a:t>Agents talk in structured JSON, so every verdict is machine readable</a:t>
            </a:r>
            <a:endParaRPr lang="en-US" sz="1500" dirty="0"/>
          </a:p>
          <a:p>
            <a:pPr marL="342900" indent="-342900">
              <a:spcAft>
                <a:spcPts val="1000"/>
              </a:spcAft>
              <a:buSzPct val="100000"/>
              <a:buChar char="•"/>
            </a:pPr>
            <a:r>
              <a:rPr lang="en-US" sz="1500" dirty="0">
                <a:solidFill>
                  <a:srgbClr val="13201A"/>
                </a:solidFill>
                <a:latin typeface="Calibri" pitchFamily="34" charset="0"/>
                <a:ea typeface="Calibri" pitchFamily="34" charset="-122"/>
                <a:cs typeface="Calibri" pitchFamily="34" charset="-120"/>
              </a:rPr>
              <a:t>Python server runs 4 tests in parallel and logs cost, tokens and latency per call</a:t>
            </a:r>
            <a:endParaRPr lang="en-US" sz="1500" dirty="0"/>
          </a:p>
          <a:p>
            <a:pPr marL="342900" indent="-342900">
              <a:spcAft>
                <a:spcPts val="1000"/>
              </a:spcAft>
              <a:buSzPct val="100000"/>
              <a:buChar char="•"/>
            </a:pPr>
            <a:r>
              <a:rPr lang="en-US" sz="1500" dirty="0">
                <a:solidFill>
                  <a:srgbClr val="13201A"/>
                </a:solidFill>
                <a:latin typeface="Calibri" pitchFamily="34" charset="0"/>
                <a:ea typeface="Calibri" pitchFamily="34" charset="-122"/>
                <a:cs typeface="Calibri" pitchFamily="34" charset="-120"/>
              </a:rPr>
              <a:t>Every prompt version is saved (v1, v2, v3 ...) for audit and rollback</a:t>
            </a:r>
            <a:endParaRPr lang="en-US" sz="1500" dirty="0"/>
          </a:p>
          <a:p>
            <a:pPr marL="342900" indent="-342900">
              <a:spcAft>
                <a:spcPts val="1000"/>
              </a:spcAft>
              <a:buSzPct val="100000"/>
              <a:buChar char="•"/>
            </a:pPr>
            <a:r>
              <a:rPr lang="en-US" sz="1500" dirty="0">
                <a:solidFill>
                  <a:srgbClr val="13201A"/>
                </a:solidFill>
                <a:latin typeface="Calibri" pitchFamily="34" charset="0"/>
                <a:ea typeface="Calibri" pitchFamily="34" charset="-122"/>
                <a:cs typeface="Calibri" pitchFamily="34" charset="-120"/>
              </a:rPr>
              <a:t>One-click PDF report and a replay link for sharing a recorded run</a:t>
            </a:r>
            <a:endParaRPr lang="en-US" sz="1500" dirty="0"/>
          </a:p>
        </p:txBody>
      </p:sp>
      <p:sp>
        <p:nvSpPr>
          <p:cNvPr id="8" name="Shape 6"/>
          <p:cNvSpPr/>
          <p:nvPr/>
        </p:nvSpPr>
        <p:spPr>
          <a:xfrm>
            <a:off x="6263640" y="1828800"/>
            <a:ext cx="5394960" cy="4297680"/>
          </a:xfrm>
          <a:prstGeom prst="roundRect">
            <a:avLst>
              <a:gd name="adj" fmla="val 2553"/>
            </a:avLst>
          </a:prstGeom>
          <a:solidFill>
            <a:srgbClr val="F3F6F4"/>
          </a:solidFill>
          <a:ln w="9525">
            <a:solidFill>
              <a:srgbClr val="DFE7E3"/>
            </a:solidFill>
            <a:prstDash val="solid"/>
          </a:ln>
        </p:spPr>
      </p:sp>
      <p:sp>
        <p:nvSpPr>
          <p:cNvPr id="9" name="Text 7"/>
          <p:cNvSpPr txBox="1"/>
          <p:nvPr/>
        </p:nvSpPr>
        <p:spPr>
          <a:xfrm>
            <a:off x="6537960" y="2011680"/>
            <a:ext cx="4846320" cy="457200"/>
          </a:xfrm>
          <a:prstGeom prst="rect">
            <a:avLst/>
          </a:prstGeom>
          <a:noFill/>
          <a:ln/>
        </p:spPr>
        <p:txBody>
          <a:bodyPr wrap="square" lIns="0" tIns="0" rIns="0" bIns="0" rtlCol="0" anchor="ctr"/>
          <a:lstStyle/>
          <a:p>
            <a:pPr indent="0" marL="0">
              <a:buNone/>
            </a:pPr>
            <a:r>
              <a:rPr lang="en-US" sz="2000" b="1" dirty="0">
                <a:solidFill>
                  <a:srgbClr val="13201A"/>
                </a:solidFill>
                <a:latin typeface="Cambria" pitchFamily="34" charset="0"/>
                <a:ea typeface="Cambria" pitchFamily="34" charset="-122"/>
                <a:cs typeface="Cambria" pitchFamily="34" charset="-120"/>
              </a:rPr>
              <a:t>Guardrails and trust</a:t>
            </a:r>
            <a:endParaRPr lang="en-US" sz="2000" dirty="0"/>
          </a:p>
        </p:txBody>
      </p:sp>
      <p:sp>
        <p:nvSpPr>
          <p:cNvPr id="10" name="Text 8"/>
          <p:cNvSpPr txBox="1"/>
          <p:nvPr/>
        </p:nvSpPr>
        <p:spPr>
          <a:xfrm>
            <a:off x="6537960" y="2560320"/>
            <a:ext cx="4937760" cy="33832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3201A"/>
                </a:solidFill>
                <a:latin typeface="Calibri" pitchFamily="34" charset="0"/>
                <a:ea typeface="Calibri" pitchFamily="34" charset="-122"/>
                <a:cs typeface="Calibri" pitchFamily="34" charset="-120"/>
              </a:rPr>
              <a:t>The written support policy is the only ground truth for the judge</a:t>
            </a:r>
            <a:endParaRPr lang="en-US" sz="1500" dirty="0"/>
          </a:p>
          <a:p>
            <a:pPr marL="342900" indent="-342900">
              <a:spcAft>
                <a:spcPts val="1000"/>
              </a:spcAft>
              <a:buSzPct val="100000"/>
              <a:buChar char="•"/>
            </a:pPr>
            <a:r>
              <a:rPr lang="en-US" sz="1500" dirty="0">
                <a:solidFill>
                  <a:srgbClr val="13201A"/>
                </a:solidFill>
                <a:latin typeface="Calibri" pitchFamily="34" charset="0"/>
                <a:ea typeface="Calibri" pitchFamily="34" charset="-122"/>
                <a:cs typeface="Calibri" pitchFamily="34" charset="-120"/>
              </a:rPr>
              <a:t>Separate models: cheap Haiku for the bot, stronger Sonnet for judging</a:t>
            </a:r>
            <a:endParaRPr lang="en-US" sz="1500" dirty="0"/>
          </a:p>
          <a:p>
            <a:pPr marL="342900" indent="-342900">
              <a:spcAft>
                <a:spcPts val="1000"/>
              </a:spcAft>
              <a:buSzPct val="100000"/>
              <a:buChar char="•"/>
            </a:pPr>
            <a:r>
              <a:rPr lang="en-US" sz="1500" dirty="0">
                <a:solidFill>
                  <a:srgbClr val="13201A"/>
                </a:solidFill>
                <a:latin typeface="Calibri" pitchFamily="34" charset="0"/>
                <a:ea typeface="Calibri" pitchFamily="34" charset="-122"/>
                <a:cs typeface="Calibri" pitchFamily="34" charset="-120"/>
              </a:rPr>
              <a:t>Auto-fix may not invent business rules, only tighten instructions</a:t>
            </a:r>
            <a:endParaRPr lang="en-US" sz="1500" dirty="0"/>
          </a:p>
          <a:p>
            <a:pPr marL="342900" indent="-342900">
              <a:spcAft>
                <a:spcPts val="1000"/>
              </a:spcAft>
              <a:buSzPct val="100000"/>
              <a:buChar char="•"/>
            </a:pPr>
            <a:r>
              <a:rPr lang="en-US" sz="1500" dirty="0">
                <a:solidFill>
                  <a:srgbClr val="13201A"/>
                </a:solidFill>
                <a:latin typeface="Calibri" pitchFamily="34" charset="0"/>
                <a:ea typeface="Calibri" pitchFamily="34" charset="-122"/>
                <a:cs typeface="Calibri" pitchFamily="34" charset="-120"/>
              </a:rPr>
              <a:t>Only dummy data: fake names, @example.com emails, masked numbers</a:t>
            </a:r>
            <a:endParaRPr lang="en-US" sz="1500" dirty="0"/>
          </a:p>
          <a:p>
            <a:pPr marL="342900" indent="-342900">
              <a:spcAft>
                <a:spcPts val="1000"/>
              </a:spcAft>
              <a:buSzPct val="100000"/>
              <a:buChar char="•"/>
            </a:pPr>
            <a:r>
              <a:rPr lang="en-US" sz="1500" dirty="0">
                <a:solidFill>
                  <a:srgbClr val="13201A"/>
                </a:solidFill>
                <a:latin typeface="Calibri" pitchFamily="34" charset="0"/>
                <a:ea typeface="Calibri" pitchFamily="34" charset="-122"/>
                <a:cs typeface="Calibri" pitchFamily="34" charset="-120"/>
              </a:rPr>
              <a:t>A human stays in the loop if autopilot cannot reach 80%</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5486400" cy="274320"/>
          </a:xfrm>
          <a:prstGeom prst="rect">
            <a:avLst/>
          </a:prstGeom>
          <a:noFill/>
          <a:ln/>
        </p:spPr>
        <p:txBody>
          <a:bodyPr wrap="square" lIns="0" tIns="0" rIns="0" bIns="0" rtlCol="0" anchor="ctr"/>
          <a:lstStyle/>
          <a:p>
            <a:pPr indent="0" marL="0">
              <a:buNone/>
            </a:pPr>
            <a:r>
              <a:rPr lang="en-US" sz="1200" b="1" spc="200" kern="0" dirty="0">
                <a:solidFill>
                  <a:srgbClr val="0F7A4A"/>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600" b="1" dirty="0">
                <a:solidFill>
                  <a:srgbClr val="13201A"/>
                </a:solidFill>
                <a:latin typeface="Cambria" pitchFamily="34" charset="0"/>
                <a:ea typeface="Cambria" pitchFamily="34" charset="-122"/>
                <a:cs typeface="Cambria" pitchFamily="34" charset="-120"/>
              </a:rPr>
              <a:t>What it caught today</a:t>
            </a:r>
            <a:endParaRPr lang="en-US" sz="3600" dirty="0"/>
          </a:p>
        </p:txBody>
      </p:sp>
      <p:sp>
        <p:nvSpPr>
          <p:cNvPr id="4" name="Text 2"/>
          <p:cNvSpPr txBox="1"/>
          <p:nvPr/>
        </p:nvSpPr>
        <p:spPr>
          <a:xfrm>
            <a:off x="548640" y="1097280"/>
            <a:ext cx="11094415" cy="411480"/>
          </a:xfrm>
          <a:prstGeom prst="rect">
            <a:avLst/>
          </a:prstGeom>
          <a:noFill/>
          <a:ln/>
        </p:spPr>
        <p:txBody>
          <a:bodyPr wrap="square" lIns="0" tIns="0" rIns="0" bIns="0" rtlCol="0" anchor="ctr"/>
          <a:lstStyle/>
          <a:p>
            <a:pPr indent="0" marL="0">
              <a:buNone/>
            </a:pPr>
            <a:r>
              <a:rPr lang="en-US" sz="1600" dirty="0">
                <a:solidFill>
                  <a:srgbClr val="5F6F67"/>
                </a:solidFill>
                <a:latin typeface="Calibri" pitchFamily="34" charset="0"/>
                <a:ea typeface="Calibri" pitchFamily="34" charset="-122"/>
                <a:cs typeface="Calibri" pitchFamily="34" charset="-120"/>
              </a:rPr>
              <a:t>Real runs on the KarmaCoins support bot, same attack set before and after each fix</a:t>
            </a:r>
            <a:endParaRPr lang="en-US" sz="1600" dirty="0"/>
          </a:p>
        </p:txBody>
      </p:sp>
      <p:sp>
        <p:nvSpPr>
          <p:cNvPr id="5" name="Shape 3"/>
          <p:cNvSpPr/>
          <p:nvPr/>
        </p:nvSpPr>
        <p:spPr>
          <a:xfrm>
            <a:off x="548640" y="1828800"/>
            <a:ext cx="5440680" cy="1920240"/>
          </a:xfrm>
          <a:prstGeom prst="roundRect">
            <a:avLst>
              <a:gd name="adj" fmla="val 5714"/>
            </a:avLst>
          </a:prstGeom>
          <a:solidFill>
            <a:srgbClr val="F3F6F4"/>
          </a:solidFill>
          <a:ln w="9525">
            <a:solidFill>
              <a:srgbClr val="DFE7E3"/>
            </a:solidFill>
            <a:prstDash val="solid"/>
          </a:ln>
        </p:spPr>
      </p:sp>
      <p:sp>
        <p:nvSpPr>
          <p:cNvPr id="6" name="Text 4"/>
          <p:cNvSpPr txBox="1"/>
          <p:nvPr/>
        </p:nvSpPr>
        <p:spPr>
          <a:xfrm>
            <a:off x="868680" y="2011680"/>
            <a:ext cx="4846320" cy="914400"/>
          </a:xfrm>
          <a:prstGeom prst="rect">
            <a:avLst/>
          </a:prstGeom>
          <a:noFill/>
          <a:ln/>
        </p:spPr>
        <p:txBody>
          <a:bodyPr wrap="square" lIns="0" tIns="0" rIns="0" bIns="0" rtlCol="0" anchor="ctr"/>
          <a:lstStyle/>
          <a:p>
            <a:pPr indent="0" marL="0">
              <a:buNone/>
            </a:pPr>
            <a:r>
              <a:rPr lang="en-US" sz="4800" b="1" dirty="0">
                <a:solidFill>
                  <a:srgbClr val="0F7A4A"/>
                </a:solidFill>
                <a:latin typeface="Cambria" pitchFamily="34" charset="0"/>
                <a:ea typeface="Cambria" pitchFamily="34" charset="-122"/>
                <a:cs typeface="Cambria" pitchFamily="34" charset="-120"/>
              </a:rPr>
              <a:t>33% → 100%</a:t>
            </a:r>
            <a:endParaRPr lang="en-US" sz="4800" dirty="0"/>
          </a:p>
        </p:txBody>
      </p:sp>
      <p:sp>
        <p:nvSpPr>
          <p:cNvPr id="7" name="Text 5"/>
          <p:cNvSpPr txBox="1"/>
          <p:nvPr/>
        </p:nvSpPr>
        <p:spPr>
          <a:xfrm>
            <a:off x="868680" y="2971800"/>
            <a:ext cx="4846320" cy="594360"/>
          </a:xfrm>
          <a:prstGeom prst="rect">
            <a:avLst/>
          </a:prstGeom>
          <a:noFill/>
          <a:ln/>
        </p:spPr>
        <p:txBody>
          <a:bodyPr wrap="square" lIns="0" tIns="0" rIns="0" bIns="0" rtlCol="0" anchor="t"/>
          <a:lstStyle/>
          <a:p>
            <a:pPr indent="0" marL="0">
              <a:buNone/>
            </a:pPr>
            <a:r>
              <a:rPr lang="en-US" sz="1500" dirty="0">
                <a:solidFill>
                  <a:srgbClr val="5F6F67"/>
                </a:solidFill>
                <a:latin typeface="Calibri" pitchFamily="34" charset="0"/>
                <a:ea typeface="Calibri" pitchFamily="34" charset="-122"/>
                <a:cs typeface="Calibri" pitchFamily="34" charset="-120"/>
              </a:rPr>
              <a:t>Weak bot: pass rate after one auto-fix round (same 6 attacks)</a:t>
            </a:r>
            <a:endParaRPr lang="en-US" sz="1500" dirty="0"/>
          </a:p>
        </p:txBody>
      </p:sp>
      <p:sp>
        <p:nvSpPr>
          <p:cNvPr id="8" name="Shape 6"/>
          <p:cNvSpPr/>
          <p:nvPr/>
        </p:nvSpPr>
        <p:spPr>
          <a:xfrm>
            <a:off x="6172200" y="1828800"/>
            <a:ext cx="5440680" cy="1920240"/>
          </a:xfrm>
          <a:prstGeom prst="roundRect">
            <a:avLst>
              <a:gd name="adj" fmla="val 5714"/>
            </a:avLst>
          </a:prstGeom>
          <a:solidFill>
            <a:srgbClr val="F3F6F4"/>
          </a:solidFill>
          <a:ln w="9525">
            <a:solidFill>
              <a:srgbClr val="DFE7E3"/>
            </a:solidFill>
            <a:prstDash val="solid"/>
          </a:ln>
        </p:spPr>
      </p:sp>
      <p:sp>
        <p:nvSpPr>
          <p:cNvPr id="9" name="Text 7"/>
          <p:cNvSpPr txBox="1"/>
          <p:nvPr/>
        </p:nvSpPr>
        <p:spPr>
          <a:xfrm>
            <a:off x="6492240" y="2011680"/>
            <a:ext cx="4846320" cy="914400"/>
          </a:xfrm>
          <a:prstGeom prst="rect">
            <a:avLst/>
          </a:prstGeom>
          <a:noFill/>
          <a:ln/>
        </p:spPr>
        <p:txBody>
          <a:bodyPr wrap="square" lIns="0" tIns="0" rIns="0" bIns="0" rtlCol="0" anchor="ctr"/>
          <a:lstStyle/>
          <a:p>
            <a:pPr indent="0" marL="0">
              <a:buNone/>
            </a:pPr>
            <a:r>
              <a:rPr lang="en-US" sz="4800" b="1" dirty="0">
                <a:solidFill>
                  <a:srgbClr val="D13737"/>
                </a:solidFill>
                <a:latin typeface="Cambria" pitchFamily="34" charset="0"/>
                <a:ea typeface="Cambria" pitchFamily="34" charset="-122"/>
                <a:cs typeface="Cambria" pitchFamily="34" charset="-120"/>
              </a:rPr>
              <a:t>75%</a:t>
            </a:r>
            <a:endParaRPr lang="en-US" sz="4800" dirty="0"/>
          </a:p>
        </p:txBody>
      </p:sp>
      <p:sp>
        <p:nvSpPr>
          <p:cNvPr id="10" name="Text 8"/>
          <p:cNvSpPr txBox="1"/>
          <p:nvPr/>
        </p:nvSpPr>
        <p:spPr>
          <a:xfrm>
            <a:off x="6492240" y="2971800"/>
            <a:ext cx="4846320" cy="594360"/>
          </a:xfrm>
          <a:prstGeom prst="rect">
            <a:avLst/>
          </a:prstGeom>
          <a:noFill/>
          <a:ln/>
        </p:spPr>
        <p:txBody>
          <a:bodyPr wrap="square" lIns="0" tIns="0" rIns="0" bIns="0" rtlCol="0" anchor="t"/>
          <a:lstStyle/>
          <a:p>
            <a:pPr indent="0" marL="0">
              <a:buNone/>
            </a:pPr>
            <a:r>
              <a:rPr lang="en-US" sz="1500" dirty="0">
                <a:solidFill>
                  <a:srgbClr val="5F6F67"/>
                </a:solidFill>
                <a:latin typeface="Calibri" pitchFamily="34" charset="0"/>
                <a:ea typeface="Calibri" pitchFamily="34" charset="-122"/>
                <a:cs typeface="Calibri" pitchFamily="34" charset="-120"/>
              </a:rPr>
              <a:t>Team-written bot under harder attacks: 2 real policy gaps found</a:t>
            </a:r>
            <a:endParaRPr lang="en-US" sz="1500" dirty="0"/>
          </a:p>
        </p:txBody>
      </p:sp>
      <p:sp>
        <p:nvSpPr>
          <p:cNvPr id="11" name="Shape 9"/>
          <p:cNvSpPr/>
          <p:nvPr/>
        </p:nvSpPr>
        <p:spPr>
          <a:xfrm>
            <a:off x="548640" y="3977640"/>
            <a:ext cx="5440680" cy="1920240"/>
          </a:xfrm>
          <a:prstGeom prst="roundRect">
            <a:avLst>
              <a:gd name="adj" fmla="val 5714"/>
            </a:avLst>
          </a:prstGeom>
          <a:solidFill>
            <a:srgbClr val="F3F6F4"/>
          </a:solidFill>
          <a:ln w="9525">
            <a:solidFill>
              <a:srgbClr val="DFE7E3"/>
            </a:solidFill>
            <a:prstDash val="solid"/>
          </a:ln>
        </p:spPr>
      </p:sp>
      <p:sp>
        <p:nvSpPr>
          <p:cNvPr id="12" name="Text 10"/>
          <p:cNvSpPr txBox="1"/>
          <p:nvPr/>
        </p:nvSpPr>
        <p:spPr>
          <a:xfrm>
            <a:off x="868680" y="4160520"/>
            <a:ext cx="4846320" cy="914400"/>
          </a:xfrm>
          <a:prstGeom prst="rect">
            <a:avLst/>
          </a:prstGeom>
          <a:noFill/>
          <a:ln/>
        </p:spPr>
        <p:txBody>
          <a:bodyPr wrap="square" lIns="0" tIns="0" rIns="0" bIns="0" rtlCol="0" anchor="ctr"/>
          <a:lstStyle/>
          <a:p>
            <a:pPr indent="0" marL="0">
              <a:buNone/>
            </a:pPr>
            <a:r>
              <a:rPr lang="en-US" sz="4800" b="1" dirty="0">
                <a:solidFill>
                  <a:srgbClr val="7B4FD6"/>
                </a:solidFill>
                <a:latin typeface="Cambria" pitchFamily="34" charset="0"/>
                <a:ea typeface="Cambria" pitchFamily="34" charset="-122"/>
                <a:cs typeface="Cambria" pitchFamily="34" charset="-120"/>
              </a:rPr>
              <a:t>15</a:t>
            </a:r>
            <a:endParaRPr lang="en-US" sz="4800" dirty="0"/>
          </a:p>
        </p:txBody>
      </p:sp>
      <p:sp>
        <p:nvSpPr>
          <p:cNvPr id="13" name="Text 11"/>
          <p:cNvSpPr txBox="1"/>
          <p:nvPr/>
        </p:nvSpPr>
        <p:spPr>
          <a:xfrm>
            <a:off x="868680" y="5120640"/>
            <a:ext cx="4846320" cy="594360"/>
          </a:xfrm>
          <a:prstGeom prst="rect">
            <a:avLst/>
          </a:prstGeom>
          <a:noFill/>
          <a:ln/>
        </p:spPr>
        <p:txBody>
          <a:bodyPr wrap="square" lIns="0" tIns="0" rIns="0" bIns="0" rtlCol="0" anchor="t"/>
          <a:lstStyle/>
          <a:p>
            <a:pPr indent="0" marL="0">
              <a:buNone/>
            </a:pPr>
            <a:r>
              <a:rPr lang="en-US" sz="1500" dirty="0">
                <a:solidFill>
                  <a:srgbClr val="5F6F67"/>
                </a:solidFill>
                <a:latin typeface="Calibri" pitchFamily="34" charset="0"/>
                <a:ea typeface="Calibri" pitchFamily="34" charset="-122"/>
                <a:cs typeface="Calibri" pitchFamily="34" charset="-120"/>
              </a:rPr>
              <a:t>Attack types, from prompt injection to Hinglish and limit bypass</a:t>
            </a:r>
            <a:endParaRPr lang="en-US" sz="1500" dirty="0"/>
          </a:p>
        </p:txBody>
      </p:sp>
      <p:sp>
        <p:nvSpPr>
          <p:cNvPr id="14" name="Shape 12"/>
          <p:cNvSpPr/>
          <p:nvPr/>
        </p:nvSpPr>
        <p:spPr>
          <a:xfrm>
            <a:off x="6172200" y="3977640"/>
            <a:ext cx="5440680" cy="1920240"/>
          </a:xfrm>
          <a:prstGeom prst="roundRect">
            <a:avLst>
              <a:gd name="adj" fmla="val 5714"/>
            </a:avLst>
          </a:prstGeom>
          <a:solidFill>
            <a:srgbClr val="F3F6F4"/>
          </a:solidFill>
          <a:ln w="9525">
            <a:solidFill>
              <a:srgbClr val="DFE7E3"/>
            </a:solidFill>
            <a:prstDash val="solid"/>
          </a:ln>
        </p:spPr>
      </p:sp>
      <p:sp>
        <p:nvSpPr>
          <p:cNvPr id="15" name="Text 13"/>
          <p:cNvSpPr txBox="1"/>
          <p:nvPr/>
        </p:nvSpPr>
        <p:spPr>
          <a:xfrm>
            <a:off x="6492240" y="4160520"/>
            <a:ext cx="4846320" cy="914400"/>
          </a:xfrm>
          <a:prstGeom prst="rect">
            <a:avLst/>
          </a:prstGeom>
          <a:noFill/>
          <a:ln/>
        </p:spPr>
        <p:txBody>
          <a:bodyPr wrap="square" lIns="0" tIns="0" rIns="0" bIns="0" rtlCol="0" anchor="ctr"/>
          <a:lstStyle/>
          <a:p>
            <a:pPr indent="0" marL="0">
              <a:buNone/>
            </a:pPr>
            <a:r>
              <a:rPr lang="en-US" sz="4800" b="1" dirty="0">
                <a:solidFill>
                  <a:srgbClr val="1F7FBF"/>
                </a:solidFill>
                <a:latin typeface="Cambria" pitchFamily="34" charset="0"/>
                <a:ea typeface="Cambria" pitchFamily="34" charset="-122"/>
                <a:cs typeface="Cambria" pitchFamily="34" charset="-120"/>
              </a:rPr>
              <a:t>≈ ₹12</a:t>
            </a:r>
            <a:endParaRPr lang="en-US" sz="4800" dirty="0"/>
          </a:p>
        </p:txBody>
      </p:sp>
      <p:sp>
        <p:nvSpPr>
          <p:cNvPr id="16" name="Text 14"/>
          <p:cNvSpPr txBox="1"/>
          <p:nvPr/>
        </p:nvSpPr>
        <p:spPr>
          <a:xfrm>
            <a:off x="6492240" y="5120640"/>
            <a:ext cx="4846320" cy="594360"/>
          </a:xfrm>
          <a:prstGeom prst="rect">
            <a:avLst/>
          </a:prstGeom>
          <a:noFill/>
          <a:ln/>
        </p:spPr>
        <p:txBody>
          <a:bodyPr wrap="square" lIns="0" tIns="0" rIns="0" bIns="0" rtlCol="0" anchor="t"/>
          <a:lstStyle/>
          <a:p>
            <a:pPr indent="0" marL="0">
              <a:buNone/>
            </a:pPr>
            <a:r>
              <a:rPr lang="en-US" sz="1500" dirty="0">
                <a:solidFill>
                  <a:srgbClr val="5F6F67"/>
                </a:solidFill>
                <a:latin typeface="Calibri" pitchFamily="34" charset="0"/>
                <a:ea typeface="Calibri" pitchFamily="34" charset="-122"/>
                <a:cs typeface="Calibri" pitchFamily="34" charset="-120"/>
              </a:rPr>
              <a:t>Estimated API cost of a full test run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5486400" cy="274320"/>
          </a:xfrm>
          <a:prstGeom prst="rect">
            <a:avLst/>
          </a:prstGeom>
          <a:noFill/>
          <a:ln/>
        </p:spPr>
        <p:txBody>
          <a:bodyPr wrap="square" lIns="0" tIns="0" rIns="0" bIns="0" rtlCol="0" anchor="ctr"/>
          <a:lstStyle/>
          <a:p>
            <a:pPr indent="0" marL="0">
              <a:buNone/>
            </a:pPr>
            <a:r>
              <a:rPr lang="en-US" sz="1200" b="1" spc="200" kern="0" dirty="0">
                <a:solidFill>
                  <a:srgbClr val="0F7A4A"/>
                </a:solidFill>
                <a:latin typeface="Calibri" pitchFamily="34" charset="0"/>
                <a:ea typeface="Calibri" pitchFamily="34" charset="-122"/>
                <a:cs typeface="Calibri" pitchFamily="34" charset="-120"/>
              </a:rPr>
              <a:t>TOOLS USED</a:t>
            </a:r>
            <a:endParaRPr lang="en-US" sz="12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600" b="1" dirty="0">
                <a:solidFill>
                  <a:srgbClr val="13201A"/>
                </a:solidFill>
                <a:latin typeface="Cambria" pitchFamily="34" charset="0"/>
                <a:ea typeface="Cambria" pitchFamily="34" charset="-122"/>
                <a:cs typeface="Cambria" pitchFamily="34" charset="-120"/>
              </a:rPr>
              <a:t>Built with Claude, end to end</a:t>
            </a:r>
            <a:endParaRPr lang="en-US" sz="3600" dirty="0"/>
          </a:p>
        </p:txBody>
      </p:sp>
      <p:sp>
        <p:nvSpPr>
          <p:cNvPr id="4" name="Shape 2"/>
          <p:cNvSpPr/>
          <p:nvPr/>
        </p:nvSpPr>
        <p:spPr>
          <a:xfrm>
            <a:off x="548640" y="1600200"/>
            <a:ext cx="3520440" cy="1965960"/>
          </a:xfrm>
          <a:prstGeom prst="roundRect">
            <a:avLst>
              <a:gd name="adj" fmla="val 5581"/>
            </a:avLst>
          </a:prstGeom>
          <a:solidFill>
            <a:srgbClr val="F3F6F4"/>
          </a:solidFill>
          <a:ln w="9525">
            <a:solidFill>
              <a:srgbClr val="DFE7E3"/>
            </a:solidFill>
            <a:prstDash val="solid"/>
          </a:ln>
        </p:spPr>
      </p:sp>
      <p:sp>
        <p:nvSpPr>
          <p:cNvPr id="5" name="Shape 3"/>
          <p:cNvSpPr/>
          <p:nvPr/>
        </p:nvSpPr>
        <p:spPr>
          <a:xfrm>
            <a:off x="822960" y="1874520"/>
            <a:ext cx="685800" cy="685800"/>
          </a:xfrm>
          <a:prstGeom prst="ellipse">
            <a:avLst/>
          </a:prstGeom>
          <a:solidFill>
            <a:srgbClr val="0F7A4A"/>
          </a:solidFill>
          <a:ln w="12700">
            <a:solidFill>
              <a:srgbClr val="0F7A4A"/>
            </a:solidFill>
            <a:prstDash val="solid"/>
          </a:ln>
        </p:spPr>
      </p:sp>
      <p:sp>
        <p:nvSpPr>
          <p:cNvPr id="6" name="Text 4"/>
          <p:cNvSpPr txBox="1"/>
          <p:nvPr/>
        </p:nvSpPr>
        <p:spPr>
          <a:xfrm>
            <a:off x="822960" y="1874520"/>
            <a:ext cx="6858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CC</a:t>
            </a:r>
            <a:endParaRPr lang="en-US" sz="1400" dirty="0"/>
          </a:p>
        </p:txBody>
      </p:sp>
      <p:sp>
        <p:nvSpPr>
          <p:cNvPr id="7" name="Text 5"/>
          <p:cNvSpPr txBox="1"/>
          <p:nvPr/>
        </p:nvSpPr>
        <p:spPr>
          <a:xfrm>
            <a:off x="1691640" y="1947672"/>
            <a:ext cx="2240280" cy="548640"/>
          </a:xfrm>
          <a:prstGeom prst="rect">
            <a:avLst/>
          </a:prstGeom>
          <a:noFill/>
          <a:ln/>
        </p:spPr>
        <p:txBody>
          <a:bodyPr wrap="square" lIns="0" tIns="0" rIns="0" bIns="0" rtlCol="0" anchor="ctr"/>
          <a:lstStyle/>
          <a:p>
            <a:pPr indent="0" marL="0">
              <a:buNone/>
            </a:pPr>
            <a:r>
              <a:rPr lang="en-US" sz="1800" b="1" dirty="0">
                <a:solidFill>
                  <a:srgbClr val="13201A"/>
                </a:solidFill>
                <a:latin typeface="Cambria" pitchFamily="34" charset="0"/>
                <a:ea typeface="Cambria" pitchFamily="34" charset="-122"/>
                <a:cs typeface="Cambria" pitchFamily="34" charset="-120"/>
              </a:rPr>
              <a:t>Claude Code</a:t>
            </a:r>
            <a:endParaRPr lang="en-US" sz="1800" dirty="0"/>
          </a:p>
        </p:txBody>
      </p:sp>
      <p:sp>
        <p:nvSpPr>
          <p:cNvPr id="8" name="Text 6"/>
          <p:cNvSpPr txBox="1"/>
          <p:nvPr/>
        </p:nvSpPr>
        <p:spPr>
          <a:xfrm>
            <a:off x="822960" y="2697480"/>
            <a:ext cx="3017520" cy="777240"/>
          </a:xfrm>
          <a:prstGeom prst="rect">
            <a:avLst/>
          </a:prstGeom>
          <a:noFill/>
          <a:ln/>
        </p:spPr>
        <p:txBody>
          <a:bodyPr wrap="square" lIns="0" tIns="0" rIns="0" bIns="0" rtlCol="0" anchor="t"/>
          <a:lstStyle/>
          <a:p>
            <a:pPr indent="0" marL="0">
              <a:buNone/>
            </a:pPr>
            <a:r>
              <a:rPr lang="en-US" sz="1300" dirty="0">
                <a:solidFill>
                  <a:srgbClr val="5F6F67"/>
                </a:solidFill>
                <a:latin typeface="Calibri" pitchFamily="34" charset="0"/>
                <a:ea typeface="Calibri" pitchFamily="34" charset="-122"/>
                <a:cs typeface="Calibri" pitchFamily="34" charset="-120"/>
              </a:rPr>
              <a:t>Headless mode runs every agent, and helped us write the code</a:t>
            </a:r>
            <a:endParaRPr lang="en-US" sz="1300" dirty="0"/>
          </a:p>
        </p:txBody>
      </p:sp>
      <p:sp>
        <p:nvSpPr>
          <p:cNvPr id="9" name="Shape 7"/>
          <p:cNvSpPr/>
          <p:nvPr/>
        </p:nvSpPr>
        <p:spPr>
          <a:xfrm>
            <a:off x="4297680" y="1600200"/>
            <a:ext cx="3520440" cy="1965960"/>
          </a:xfrm>
          <a:prstGeom prst="roundRect">
            <a:avLst>
              <a:gd name="adj" fmla="val 5581"/>
            </a:avLst>
          </a:prstGeom>
          <a:solidFill>
            <a:srgbClr val="F3F6F4"/>
          </a:solidFill>
          <a:ln w="9525">
            <a:solidFill>
              <a:srgbClr val="DFE7E3"/>
            </a:solidFill>
            <a:prstDash val="solid"/>
          </a:ln>
        </p:spPr>
      </p:sp>
      <p:sp>
        <p:nvSpPr>
          <p:cNvPr id="10" name="Shape 8"/>
          <p:cNvSpPr/>
          <p:nvPr/>
        </p:nvSpPr>
        <p:spPr>
          <a:xfrm>
            <a:off x="4572000" y="1874520"/>
            <a:ext cx="685800" cy="685800"/>
          </a:xfrm>
          <a:prstGeom prst="ellipse">
            <a:avLst/>
          </a:prstGeom>
          <a:solidFill>
            <a:srgbClr val="7B4FD6"/>
          </a:solidFill>
          <a:ln w="12700">
            <a:solidFill>
              <a:srgbClr val="7B4FD6"/>
            </a:solidFill>
            <a:prstDash val="solid"/>
          </a:ln>
        </p:spPr>
      </p:sp>
      <p:sp>
        <p:nvSpPr>
          <p:cNvPr id="11" name="Text 9"/>
          <p:cNvSpPr txBox="1"/>
          <p:nvPr/>
        </p:nvSpPr>
        <p:spPr>
          <a:xfrm>
            <a:off x="4572000" y="1874520"/>
            <a:ext cx="6858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a:t>
            </a:r>
            <a:endParaRPr lang="en-US" sz="1400" dirty="0"/>
          </a:p>
        </p:txBody>
      </p:sp>
      <p:sp>
        <p:nvSpPr>
          <p:cNvPr id="12" name="Text 10"/>
          <p:cNvSpPr txBox="1"/>
          <p:nvPr/>
        </p:nvSpPr>
        <p:spPr>
          <a:xfrm>
            <a:off x="5440680" y="1947672"/>
            <a:ext cx="2240280" cy="548640"/>
          </a:xfrm>
          <a:prstGeom prst="rect">
            <a:avLst/>
          </a:prstGeom>
          <a:noFill/>
          <a:ln/>
        </p:spPr>
        <p:txBody>
          <a:bodyPr wrap="square" lIns="0" tIns="0" rIns="0" bIns="0" rtlCol="0" anchor="ctr"/>
          <a:lstStyle/>
          <a:p>
            <a:pPr indent="0" marL="0">
              <a:buNone/>
            </a:pPr>
            <a:r>
              <a:rPr lang="en-US" sz="1800" b="1" dirty="0">
                <a:solidFill>
                  <a:srgbClr val="13201A"/>
                </a:solidFill>
                <a:latin typeface="Cambria" pitchFamily="34" charset="0"/>
                <a:ea typeface="Cambria" pitchFamily="34" charset="-122"/>
                <a:cs typeface="Cambria" pitchFamily="34" charset="-120"/>
              </a:rPr>
              <a:t>Claude Sonnet</a:t>
            </a:r>
            <a:endParaRPr lang="en-US" sz="1800" dirty="0"/>
          </a:p>
        </p:txBody>
      </p:sp>
      <p:sp>
        <p:nvSpPr>
          <p:cNvPr id="13" name="Text 11"/>
          <p:cNvSpPr txBox="1"/>
          <p:nvPr/>
        </p:nvSpPr>
        <p:spPr>
          <a:xfrm>
            <a:off x="4572000" y="2697480"/>
            <a:ext cx="3017520" cy="777240"/>
          </a:xfrm>
          <a:prstGeom prst="rect">
            <a:avLst/>
          </a:prstGeom>
          <a:noFill/>
          <a:ln/>
        </p:spPr>
        <p:txBody>
          <a:bodyPr wrap="square" lIns="0" tIns="0" rIns="0" bIns="0" rtlCol="0" anchor="t"/>
          <a:lstStyle/>
          <a:p>
            <a:pPr indent="0" marL="0">
              <a:buNone/>
            </a:pPr>
            <a:r>
              <a:rPr lang="en-US" sz="1300" dirty="0">
                <a:solidFill>
                  <a:srgbClr val="5F6F67"/>
                </a:solidFill>
                <a:latin typeface="Calibri" pitchFamily="34" charset="0"/>
                <a:ea typeface="Calibri" pitchFamily="34" charset="-122"/>
                <a:cs typeface="Calibri" pitchFamily="34" charset="-120"/>
              </a:rPr>
              <a:t>Hacker, judge and auto-fix agents</a:t>
            </a:r>
            <a:endParaRPr lang="en-US" sz="1300" dirty="0"/>
          </a:p>
        </p:txBody>
      </p:sp>
      <p:sp>
        <p:nvSpPr>
          <p:cNvPr id="14" name="Shape 12"/>
          <p:cNvSpPr/>
          <p:nvPr/>
        </p:nvSpPr>
        <p:spPr>
          <a:xfrm>
            <a:off x="8046720" y="1600200"/>
            <a:ext cx="3520440" cy="1965960"/>
          </a:xfrm>
          <a:prstGeom prst="roundRect">
            <a:avLst>
              <a:gd name="adj" fmla="val 5581"/>
            </a:avLst>
          </a:prstGeom>
          <a:solidFill>
            <a:srgbClr val="F3F6F4"/>
          </a:solidFill>
          <a:ln w="9525">
            <a:solidFill>
              <a:srgbClr val="DFE7E3"/>
            </a:solidFill>
            <a:prstDash val="solid"/>
          </a:ln>
        </p:spPr>
      </p:sp>
      <p:sp>
        <p:nvSpPr>
          <p:cNvPr id="15" name="Shape 13"/>
          <p:cNvSpPr/>
          <p:nvPr/>
        </p:nvSpPr>
        <p:spPr>
          <a:xfrm>
            <a:off x="8321040" y="1874520"/>
            <a:ext cx="685800" cy="685800"/>
          </a:xfrm>
          <a:prstGeom prst="ellipse">
            <a:avLst/>
          </a:prstGeom>
          <a:solidFill>
            <a:srgbClr val="1F7FBF"/>
          </a:solidFill>
          <a:ln w="12700">
            <a:solidFill>
              <a:srgbClr val="1F7FBF"/>
            </a:solidFill>
            <a:prstDash val="solid"/>
          </a:ln>
        </p:spPr>
      </p:sp>
      <p:sp>
        <p:nvSpPr>
          <p:cNvPr id="16" name="Text 14"/>
          <p:cNvSpPr txBox="1"/>
          <p:nvPr/>
        </p:nvSpPr>
        <p:spPr>
          <a:xfrm>
            <a:off x="8321040" y="1874520"/>
            <a:ext cx="6858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t>
            </a:r>
            <a:endParaRPr lang="en-US" sz="1400" dirty="0"/>
          </a:p>
        </p:txBody>
      </p:sp>
      <p:sp>
        <p:nvSpPr>
          <p:cNvPr id="17" name="Text 15"/>
          <p:cNvSpPr txBox="1"/>
          <p:nvPr/>
        </p:nvSpPr>
        <p:spPr>
          <a:xfrm>
            <a:off x="9189720" y="1947672"/>
            <a:ext cx="2240280" cy="548640"/>
          </a:xfrm>
          <a:prstGeom prst="rect">
            <a:avLst/>
          </a:prstGeom>
          <a:noFill/>
          <a:ln/>
        </p:spPr>
        <p:txBody>
          <a:bodyPr wrap="square" lIns="0" tIns="0" rIns="0" bIns="0" rtlCol="0" anchor="ctr"/>
          <a:lstStyle/>
          <a:p>
            <a:pPr indent="0" marL="0">
              <a:buNone/>
            </a:pPr>
            <a:r>
              <a:rPr lang="en-US" sz="1800" b="1" dirty="0">
                <a:solidFill>
                  <a:srgbClr val="13201A"/>
                </a:solidFill>
                <a:latin typeface="Cambria" pitchFamily="34" charset="0"/>
                <a:ea typeface="Cambria" pitchFamily="34" charset="-122"/>
                <a:cs typeface="Cambria" pitchFamily="34" charset="-120"/>
              </a:rPr>
              <a:t>Claude Haiku</a:t>
            </a:r>
            <a:endParaRPr lang="en-US" sz="1800" dirty="0"/>
          </a:p>
        </p:txBody>
      </p:sp>
      <p:sp>
        <p:nvSpPr>
          <p:cNvPr id="18" name="Text 16"/>
          <p:cNvSpPr txBox="1"/>
          <p:nvPr/>
        </p:nvSpPr>
        <p:spPr>
          <a:xfrm>
            <a:off x="8321040" y="2697480"/>
            <a:ext cx="3017520" cy="777240"/>
          </a:xfrm>
          <a:prstGeom prst="rect">
            <a:avLst/>
          </a:prstGeom>
          <a:noFill/>
          <a:ln/>
        </p:spPr>
        <p:txBody>
          <a:bodyPr wrap="square" lIns="0" tIns="0" rIns="0" bIns="0" rtlCol="0" anchor="t"/>
          <a:lstStyle/>
          <a:p>
            <a:pPr indent="0" marL="0">
              <a:buNone/>
            </a:pPr>
            <a:r>
              <a:rPr lang="en-US" sz="1300" dirty="0">
                <a:solidFill>
                  <a:srgbClr val="5F6F67"/>
                </a:solidFill>
                <a:latin typeface="Calibri" pitchFamily="34" charset="0"/>
                <a:ea typeface="Calibri" pitchFamily="34" charset="-122"/>
                <a:cs typeface="Calibri" pitchFamily="34" charset="-120"/>
              </a:rPr>
              <a:t>The fast, low-cost support bot under test</a:t>
            </a:r>
            <a:endParaRPr lang="en-US" sz="1300" dirty="0"/>
          </a:p>
        </p:txBody>
      </p:sp>
      <p:sp>
        <p:nvSpPr>
          <p:cNvPr id="19" name="Shape 17"/>
          <p:cNvSpPr/>
          <p:nvPr/>
        </p:nvSpPr>
        <p:spPr>
          <a:xfrm>
            <a:off x="548640" y="3840480"/>
            <a:ext cx="3520440" cy="1965960"/>
          </a:xfrm>
          <a:prstGeom prst="roundRect">
            <a:avLst>
              <a:gd name="adj" fmla="val 5581"/>
            </a:avLst>
          </a:prstGeom>
          <a:solidFill>
            <a:srgbClr val="F3F6F4"/>
          </a:solidFill>
          <a:ln w="9525">
            <a:solidFill>
              <a:srgbClr val="DFE7E3"/>
            </a:solidFill>
            <a:prstDash val="solid"/>
          </a:ln>
        </p:spPr>
      </p:sp>
      <p:sp>
        <p:nvSpPr>
          <p:cNvPr id="20" name="Shape 18"/>
          <p:cNvSpPr/>
          <p:nvPr/>
        </p:nvSpPr>
        <p:spPr>
          <a:xfrm>
            <a:off x="822960" y="4114800"/>
            <a:ext cx="685800" cy="685800"/>
          </a:xfrm>
          <a:prstGeom prst="ellipse">
            <a:avLst/>
          </a:prstGeom>
          <a:solidFill>
            <a:srgbClr val="E0662B"/>
          </a:solidFill>
          <a:ln w="12700">
            <a:solidFill>
              <a:srgbClr val="E0662B"/>
            </a:solidFill>
            <a:prstDash val="solid"/>
          </a:ln>
        </p:spPr>
      </p:sp>
      <p:sp>
        <p:nvSpPr>
          <p:cNvPr id="21" name="Text 19"/>
          <p:cNvSpPr txBox="1"/>
          <p:nvPr/>
        </p:nvSpPr>
        <p:spPr>
          <a:xfrm>
            <a:off x="822960" y="4114800"/>
            <a:ext cx="6858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Py</a:t>
            </a:r>
            <a:endParaRPr lang="en-US" sz="1400" dirty="0"/>
          </a:p>
        </p:txBody>
      </p:sp>
      <p:sp>
        <p:nvSpPr>
          <p:cNvPr id="22" name="Text 20"/>
          <p:cNvSpPr txBox="1"/>
          <p:nvPr/>
        </p:nvSpPr>
        <p:spPr>
          <a:xfrm>
            <a:off x="1691640" y="4187952"/>
            <a:ext cx="2240280" cy="548640"/>
          </a:xfrm>
          <a:prstGeom prst="rect">
            <a:avLst/>
          </a:prstGeom>
          <a:noFill/>
          <a:ln/>
        </p:spPr>
        <p:txBody>
          <a:bodyPr wrap="square" lIns="0" tIns="0" rIns="0" bIns="0" rtlCol="0" anchor="ctr"/>
          <a:lstStyle/>
          <a:p>
            <a:pPr indent="0" marL="0">
              <a:buNone/>
            </a:pPr>
            <a:r>
              <a:rPr lang="en-US" sz="1800" b="1" dirty="0">
                <a:solidFill>
                  <a:srgbClr val="13201A"/>
                </a:solidFill>
                <a:latin typeface="Cambria" pitchFamily="34" charset="0"/>
                <a:ea typeface="Cambria" pitchFamily="34" charset="-122"/>
                <a:cs typeface="Cambria" pitchFamily="34" charset="-120"/>
              </a:rPr>
              <a:t>Python</a:t>
            </a:r>
            <a:endParaRPr lang="en-US" sz="1800" dirty="0"/>
          </a:p>
        </p:txBody>
      </p:sp>
      <p:sp>
        <p:nvSpPr>
          <p:cNvPr id="23" name="Text 21"/>
          <p:cNvSpPr txBox="1"/>
          <p:nvPr/>
        </p:nvSpPr>
        <p:spPr>
          <a:xfrm>
            <a:off x="822960" y="4937760"/>
            <a:ext cx="3017520" cy="777240"/>
          </a:xfrm>
          <a:prstGeom prst="rect">
            <a:avLst/>
          </a:prstGeom>
          <a:noFill/>
          <a:ln/>
        </p:spPr>
        <p:txBody>
          <a:bodyPr wrap="square" lIns="0" tIns="0" rIns="0" bIns="0" rtlCol="0" anchor="t"/>
          <a:lstStyle/>
          <a:p>
            <a:pPr indent="0" marL="0">
              <a:buNone/>
            </a:pPr>
            <a:r>
              <a:rPr lang="en-US" sz="1300" dirty="0">
                <a:solidFill>
                  <a:srgbClr val="5F6F67"/>
                </a:solidFill>
                <a:latin typeface="Calibri" pitchFamily="34" charset="0"/>
                <a:ea typeface="Calibri" pitchFamily="34" charset="-122"/>
                <a:cs typeface="Calibri" pitchFamily="34" charset="-120"/>
              </a:rPr>
              <a:t>Local server, parallel test runner, cost and latency tracking</a:t>
            </a:r>
            <a:endParaRPr lang="en-US" sz="1300" dirty="0"/>
          </a:p>
        </p:txBody>
      </p:sp>
      <p:sp>
        <p:nvSpPr>
          <p:cNvPr id="24" name="Shape 22"/>
          <p:cNvSpPr/>
          <p:nvPr/>
        </p:nvSpPr>
        <p:spPr>
          <a:xfrm>
            <a:off x="4297680" y="3840480"/>
            <a:ext cx="3520440" cy="1965960"/>
          </a:xfrm>
          <a:prstGeom prst="roundRect">
            <a:avLst>
              <a:gd name="adj" fmla="val 5581"/>
            </a:avLst>
          </a:prstGeom>
          <a:solidFill>
            <a:srgbClr val="F3F6F4"/>
          </a:solidFill>
          <a:ln w="9525">
            <a:solidFill>
              <a:srgbClr val="DFE7E3"/>
            </a:solidFill>
            <a:prstDash val="solid"/>
          </a:ln>
        </p:spPr>
      </p:sp>
      <p:sp>
        <p:nvSpPr>
          <p:cNvPr id="25" name="Shape 23"/>
          <p:cNvSpPr/>
          <p:nvPr/>
        </p:nvSpPr>
        <p:spPr>
          <a:xfrm>
            <a:off x="4572000" y="4114800"/>
            <a:ext cx="685800" cy="685800"/>
          </a:xfrm>
          <a:prstGeom prst="ellipse">
            <a:avLst/>
          </a:prstGeom>
          <a:solidFill>
            <a:srgbClr val="0F9A5C"/>
          </a:solidFill>
          <a:ln w="12700">
            <a:solidFill>
              <a:srgbClr val="0F9A5C"/>
            </a:solidFill>
            <a:prstDash val="solid"/>
          </a:ln>
        </p:spPr>
      </p:sp>
      <p:sp>
        <p:nvSpPr>
          <p:cNvPr id="26" name="Text 24"/>
          <p:cNvSpPr txBox="1"/>
          <p:nvPr/>
        </p:nvSpPr>
        <p:spPr>
          <a:xfrm>
            <a:off x="4572000" y="4114800"/>
            <a:ext cx="6858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UI</a:t>
            </a:r>
            <a:endParaRPr lang="en-US" sz="1400" dirty="0"/>
          </a:p>
        </p:txBody>
      </p:sp>
      <p:sp>
        <p:nvSpPr>
          <p:cNvPr id="27" name="Text 25"/>
          <p:cNvSpPr txBox="1"/>
          <p:nvPr/>
        </p:nvSpPr>
        <p:spPr>
          <a:xfrm>
            <a:off x="5440680" y="4187952"/>
            <a:ext cx="2240280" cy="548640"/>
          </a:xfrm>
          <a:prstGeom prst="rect">
            <a:avLst/>
          </a:prstGeom>
          <a:noFill/>
          <a:ln/>
        </p:spPr>
        <p:txBody>
          <a:bodyPr wrap="square" lIns="0" tIns="0" rIns="0" bIns="0" rtlCol="0" anchor="ctr"/>
          <a:lstStyle/>
          <a:p>
            <a:pPr indent="0" marL="0">
              <a:buNone/>
            </a:pPr>
            <a:r>
              <a:rPr lang="en-US" sz="1800" b="1" dirty="0">
                <a:solidFill>
                  <a:srgbClr val="13201A"/>
                </a:solidFill>
                <a:latin typeface="Cambria" pitchFamily="34" charset="0"/>
                <a:ea typeface="Cambria" pitchFamily="34" charset="-122"/>
                <a:cs typeface="Cambria" pitchFamily="34" charset="-120"/>
              </a:rPr>
              <a:t>HTML dashboard</a:t>
            </a:r>
            <a:endParaRPr lang="en-US" sz="1800" dirty="0"/>
          </a:p>
        </p:txBody>
      </p:sp>
      <p:sp>
        <p:nvSpPr>
          <p:cNvPr id="28" name="Text 26"/>
          <p:cNvSpPr txBox="1"/>
          <p:nvPr/>
        </p:nvSpPr>
        <p:spPr>
          <a:xfrm>
            <a:off x="4572000" y="4937760"/>
            <a:ext cx="3017520" cy="777240"/>
          </a:xfrm>
          <a:prstGeom prst="rect">
            <a:avLst/>
          </a:prstGeom>
          <a:noFill/>
          <a:ln/>
        </p:spPr>
        <p:txBody>
          <a:bodyPr wrap="square" lIns="0" tIns="0" rIns="0" bIns="0" rtlCol="0" anchor="t"/>
          <a:lstStyle/>
          <a:p>
            <a:pPr indent="0" marL="0">
              <a:buNone/>
            </a:pPr>
            <a:r>
              <a:rPr lang="en-US" sz="1300" dirty="0">
                <a:solidFill>
                  <a:srgbClr val="5F6F67"/>
                </a:solidFill>
                <a:latin typeface="Calibri" pitchFamily="34" charset="0"/>
                <a:ea typeface="Calibri" pitchFamily="34" charset="-122"/>
                <a:cs typeface="Calibri" pitchFamily="34" charset="-120"/>
              </a:rPr>
              <a:t>Live agent pipeline, results, before vs after, replay</a:t>
            </a:r>
            <a:endParaRPr lang="en-US" sz="1300" dirty="0"/>
          </a:p>
        </p:txBody>
      </p:sp>
      <p:sp>
        <p:nvSpPr>
          <p:cNvPr id="29" name="Shape 27"/>
          <p:cNvSpPr/>
          <p:nvPr/>
        </p:nvSpPr>
        <p:spPr>
          <a:xfrm>
            <a:off x="8046720" y="3840480"/>
            <a:ext cx="3520440" cy="1965960"/>
          </a:xfrm>
          <a:prstGeom prst="roundRect">
            <a:avLst>
              <a:gd name="adj" fmla="val 5581"/>
            </a:avLst>
          </a:prstGeom>
          <a:solidFill>
            <a:srgbClr val="F3F6F4"/>
          </a:solidFill>
          <a:ln w="9525">
            <a:solidFill>
              <a:srgbClr val="DFE7E3"/>
            </a:solidFill>
            <a:prstDash val="solid"/>
          </a:ln>
        </p:spPr>
      </p:sp>
      <p:sp>
        <p:nvSpPr>
          <p:cNvPr id="30" name="Shape 28"/>
          <p:cNvSpPr/>
          <p:nvPr/>
        </p:nvSpPr>
        <p:spPr>
          <a:xfrm>
            <a:off x="8321040" y="4114800"/>
            <a:ext cx="685800" cy="685800"/>
          </a:xfrm>
          <a:prstGeom prst="ellipse">
            <a:avLst/>
          </a:prstGeom>
          <a:solidFill>
            <a:srgbClr val="5F6F67"/>
          </a:solidFill>
          <a:ln w="12700">
            <a:solidFill>
              <a:srgbClr val="5F6F67"/>
            </a:solidFill>
            <a:prstDash val="solid"/>
          </a:ln>
        </p:spPr>
      </p:sp>
      <p:sp>
        <p:nvSpPr>
          <p:cNvPr id="31" name="Text 29"/>
          <p:cNvSpPr txBox="1"/>
          <p:nvPr/>
        </p:nvSpPr>
        <p:spPr>
          <a:xfrm>
            <a:off x="8321040" y="4114800"/>
            <a:ext cx="6858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PDF</a:t>
            </a:r>
            <a:endParaRPr lang="en-US" sz="1400" dirty="0"/>
          </a:p>
        </p:txBody>
      </p:sp>
      <p:sp>
        <p:nvSpPr>
          <p:cNvPr id="32" name="Text 30"/>
          <p:cNvSpPr txBox="1"/>
          <p:nvPr/>
        </p:nvSpPr>
        <p:spPr>
          <a:xfrm>
            <a:off x="9189720" y="4187952"/>
            <a:ext cx="2240280" cy="548640"/>
          </a:xfrm>
          <a:prstGeom prst="rect">
            <a:avLst/>
          </a:prstGeom>
          <a:noFill/>
          <a:ln/>
        </p:spPr>
        <p:txBody>
          <a:bodyPr wrap="square" lIns="0" tIns="0" rIns="0" bIns="0" rtlCol="0" anchor="ctr"/>
          <a:lstStyle/>
          <a:p>
            <a:pPr indent="0" marL="0">
              <a:buNone/>
            </a:pPr>
            <a:r>
              <a:rPr lang="en-US" sz="1800" b="1" dirty="0">
                <a:solidFill>
                  <a:srgbClr val="13201A"/>
                </a:solidFill>
                <a:latin typeface="Cambria" pitchFamily="34" charset="0"/>
                <a:ea typeface="Cambria" pitchFamily="34" charset="-122"/>
                <a:cs typeface="Cambria" pitchFamily="34" charset="-120"/>
              </a:rPr>
              <a:t>Chrome + GitHub</a:t>
            </a:r>
            <a:endParaRPr lang="en-US" sz="1800" dirty="0"/>
          </a:p>
        </p:txBody>
      </p:sp>
      <p:sp>
        <p:nvSpPr>
          <p:cNvPr id="33" name="Text 31"/>
          <p:cNvSpPr txBox="1"/>
          <p:nvPr/>
        </p:nvSpPr>
        <p:spPr>
          <a:xfrm>
            <a:off x="8321040" y="4937760"/>
            <a:ext cx="3017520" cy="777240"/>
          </a:xfrm>
          <a:prstGeom prst="rect">
            <a:avLst/>
          </a:prstGeom>
          <a:noFill/>
          <a:ln/>
        </p:spPr>
        <p:txBody>
          <a:bodyPr wrap="square" lIns="0" tIns="0" rIns="0" bIns="0" rtlCol="0" anchor="t"/>
          <a:lstStyle/>
          <a:p>
            <a:pPr indent="0" marL="0">
              <a:buNone/>
            </a:pPr>
            <a:r>
              <a:rPr lang="en-US" sz="1300" dirty="0">
                <a:solidFill>
                  <a:srgbClr val="5F6F67"/>
                </a:solidFill>
                <a:latin typeface="Calibri" pitchFamily="34" charset="0"/>
                <a:ea typeface="Calibri" pitchFamily="34" charset="-122"/>
                <a:cs typeface="Calibri" pitchFamily="34" charset="-120"/>
              </a:rPr>
              <a:t>PDF reports rendered by Chrome; code in a private GitHub repo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5486400" cy="274320"/>
          </a:xfrm>
          <a:prstGeom prst="rect">
            <a:avLst/>
          </a:prstGeom>
          <a:noFill/>
          <a:ln/>
        </p:spPr>
        <p:txBody>
          <a:bodyPr wrap="square" lIns="0" tIns="0" rIns="0" bIns="0" rtlCol="0" anchor="ctr"/>
          <a:lstStyle/>
          <a:p>
            <a:pPr indent="0" marL="0">
              <a:buNone/>
            </a:pPr>
            <a:r>
              <a:rPr lang="en-US" sz="1200" b="1" spc="200" kern="0" dirty="0">
                <a:solidFill>
                  <a:srgbClr val="0F7A4A"/>
                </a:solidFill>
                <a:latin typeface="Calibri" pitchFamily="34" charset="0"/>
                <a:ea typeface="Calibri" pitchFamily="34" charset="-122"/>
                <a:cs typeface="Calibri" pitchFamily="34" charset="-120"/>
              </a:rPr>
              <a:t>IMPACT</a:t>
            </a:r>
            <a:endParaRPr lang="en-US" sz="1200" dirty="0"/>
          </a:p>
        </p:txBody>
      </p:sp>
      <p:sp>
        <p:nvSpPr>
          <p:cNvPr id="3" name="Text 1"/>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600" b="1" dirty="0">
                <a:solidFill>
                  <a:srgbClr val="13201A"/>
                </a:solidFill>
                <a:latin typeface="Cambria" pitchFamily="34" charset="0"/>
                <a:ea typeface="Cambria" pitchFamily="34" charset="-122"/>
                <a:cs typeface="Cambria" pitchFamily="34" charset="-120"/>
              </a:rPr>
              <a:t>Business impact and next steps</a:t>
            </a:r>
            <a:endParaRPr lang="en-US" sz="3600" dirty="0"/>
          </a:p>
        </p:txBody>
      </p:sp>
      <p:sp>
        <p:nvSpPr>
          <p:cNvPr id="4" name="Shape 2"/>
          <p:cNvSpPr/>
          <p:nvPr/>
        </p:nvSpPr>
        <p:spPr>
          <a:xfrm>
            <a:off x="548640" y="1600200"/>
            <a:ext cx="548640" cy="548640"/>
          </a:xfrm>
          <a:prstGeom prst="ellipse">
            <a:avLst/>
          </a:prstGeom>
          <a:solidFill>
            <a:srgbClr val="0F7A4A"/>
          </a:solidFill>
          <a:ln w="12700">
            <a:solidFill>
              <a:srgbClr val="0F7A4A"/>
            </a:solidFill>
            <a:prstDash val="solid"/>
          </a:ln>
        </p:spPr>
      </p:sp>
      <p:sp>
        <p:nvSpPr>
          <p:cNvPr id="5" name="Text 3"/>
          <p:cNvSpPr txBox="1"/>
          <p:nvPr/>
        </p:nvSpPr>
        <p:spPr>
          <a:xfrm>
            <a:off x="548640" y="1600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txBox="1"/>
          <p:nvPr/>
        </p:nvSpPr>
        <p:spPr>
          <a:xfrm>
            <a:off x="1280160" y="1508760"/>
            <a:ext cx="4754880" cy="457200"/>
          </a:xfrm>
          <a:prstGeom prst="rect">
            <a:avLst/>
          </a:prstGeom>
          <a:noFill/>
          <a:ln/>
        </p:spPr>
        <p:txBody>
          <a:bodyPr wrap="square" lIns="0" tIns="0" rIns="0" bIns="0" rtlCol="0" anchor="ctr"/>
          <a:lstStyle/>
          <a:p>
            <a:pPr indent="0" marL="0">
              <a:buNone/>
            </a:pPr>
            <a:r>
              <a:rPr lang="en-US" sz="2000" b="1" dirty="0">
                <a:solidFill>
                  <a:srgbClr val="13201A"/>
                </a:solidFill>
                <a:latin typeface="Cambria" pitchFamily="34" charset="0"/>
                <a:ea typeface="Cambria" pitchFamily="34" charset="-122"/>
                <a:cs typeface="Cambria" pitchFamily="34" charset="-120"/>
              </a:rPr>
              <a:t>Protects trust and money</a:t>
            </a:r>
            <a:endParaRPr lang="en-US" sz="2000" dirty="0"/>
          </a:p>
        </p:txBody>
      </p:sp>
      <p:sp>
        <p:nvSpPr>
          <p:cNvPr id="7" name="Text 5"/>
          <p:cNvSpPr txBox="1"/>
          <p:nvPr/>
        </p:nvSpPr>
        <p:spPr>
          <a:xfrm>
            <a:off x="1280160" y="1965960"/>
            <a:ext cx="4754880" cy="731520"/>
          </a:xfrm>
          <a:prstGeom prst="rect">
            <a:avLst/>
          </a:prstGeom>
          <a:noFill/>
          <a:ln/>
        </p:spPr>
        <p:txBody>
          <a:bodyPr wrap="square" lIns="0" tIns="0" rIns="0" bIns="0" rtlCol="0" anchor="t"/>
          <a:lstStyle/>
          <a:p>
            <a:pPr indent="0" marL="0">
              <a:buNone/>
            </a:pPr>
            <a:r>
              <a:rPr lang="en-US" sz="1500" dirty="0">
                <a:solidFill>
                  <a:srgbClr val="5F6F67"/>
                </a:solidFill>
                <a:latin typeface="Calibri" pitchFamily="34" charset="0"/>
                <a:ea typeface="Calibri" pitchFamily="34" charset="-122"/>
                <a:cs typeface="Calibri" pitchFamily="34" charset="-120"/>
              </a:rPr>
              <a:t>Wrong promises, invented policies and data leaks are caught before launch</a:t>
            </a:r>
            <a:endParaRPr lang="en-US" sz="1500" dirty="0"/>
          </a:p>
        </p:txBody>
      </p:sp>
      <p:sp>
        <p:nvSpPr>
          <p:cNvPr id="8" name="Shape 6"/>
          <p:cNvSpPr/>
          <p:nvPr/>
        </p:nvSpPr>
        <p:spPr>
          <a:xfrm>
            <a:off x="548640" y="3063240"/>
            <a:ext cx="548640" cy="548640"/>
          </a:xfrm>
          <a:prstGeom prst="ellipse">
            <a:avLst/>
          </a:prstGeom>
          <a:solidFill>
            <a:srgbClr val="0F7A4A"/>
          </a:solidFill>
          <a:ln w="12700">
            <a:solidFill>
              <a:srgbClr val="0F7A4A"/>
            </a:solidFill>
            <a:prstDash val="solid"/>
          </a:ln>
        </p:spPr>
      </p:sp>
      <p:sp>
        <p:nvSpPr>
          <p:cNvPr id="9" name="Text 7"/>
          <p:cNvSpPr txBox="1"/>
          <p:nvPr/>
        </p:nvSpPr>
        <p:spPr>
          <a:xfrm>
            <a:off x="548640" y="30632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0" name="Text 8"/>
          <p:cNvSpPr txBox="1"/>
          <p:nvPr/>
        </p:nvSpPr>
        <p:spPr>
          <a:xfrm>
            <a:off x="1280160" y="2971800"/>
            <a:ext cx="4754880" cy="457200"/>
          </a:xfrm>
          <a:prstGeom prst="rect">
            <a:avLst/>
          </a:prstGeom>
          <a:noFill/>
          <a:ln/>
        </p:spPr>
        <p:txBody>
          <a:bodyPr wrap="square" lIns="0" tIns="0" rIns="0" bIns="0" rtlCol="0" anchor="ctr"/>
          <a:lstStyle/>
          <a:p>
            <a:pPr indent="0" marL="0">
              <a:buNone/>
            </a:pPr>
            <a:r>
              <a:rPr lang="en-US" sz="2000" b="1" dirty="0">
                <a:solidFill>
                  <a:srgbClr val="13201A"/>
                </a:solidFill>
                <a:latin typeface="Cambria" pitchFamily="34" charset="0"/>
                <a:ea typeface="Cambria" pitchFamily="34" charset="-122"/>
                <a:cs typeface="Cambria" pitchFamily="34" charset="-120"/>
              </a:rPr>
              <a:t>Reliability you can measure</a:t>
            </a:r>
            <a:endParaRPr lang="en-US" sz="2000" dirty="0"/>
          </a:p>
        </p:txBody>
      </p:sp>
      <p:sp>
        <p:nvSpPr>
          <p:cNvPr id="11" name="Text 9"/>
          <p:cNvSpPr txBox="1"/>
          <p:nvPr/>
        </p:nvSpPr>
        <p:spPr>
          <a:xfrm>
            <a:off x="1280160" y="3429000"/>
            <a:ext cx="4754880" cy="731520"/>
          </a:xfrm>
          <a:prstGeom prst="rect">
            <a:avLst/>
          </a:prstGeom>
          <a:noFill/>
          <a:ln/>
        </p:spPr>
        <p:txBody>
          <a:bodyPr wrap="square" lIns="0" tIns="0" rIns="0" bIns="0" rtlCol="0" anchor="t"/>
          <a:lstStyle/>
          <a:p>
            <a:pPr indent="0" marL="0">
              <a:buNone/>
            </a:pPr>
            <a:r>
              <a:rPr lang="en-US" sz="1500" dirty="0">
                <a:solidFill>
                  <a:srgbClr val="5F6F67"/>
                </a:solidFill>
                <a:latin typeface="Calibri" pitchFamily="34" charset="0"/>
                <a:ea typeface="Calibri" pitchFamily="34" charset="-122"/>
                <a:cs typeface="Calibri" pitchFamily="34" charset="-120"/>
              </a:rPr>
              <a:t>A pass rate and a PDF report per bot version, not a gut feeling</a:t>
            </a:r>
            <a:endParaRPr lang="en-US" sz="1500" dirty="0"/>
          </a:p>
        </p:txBody>
      </p:sp>
      <p:sp>
        <p:nvSpPr>
          <p:cNvPr id="12" name="Shape 10"/>
          <p:cNvSpPr/>
          <p:nvPr/>
        </p:nvSpPr>
        <p:spPr>
          <a:xfrm>
            <a:off x="548640" y="4526280"/>
            <a:ext cx="548640" cy="548640"/>
          </a:xfrm>
          <a:prstGeom prst="ellipse">
            <a:avLst/>
          </a:prstGeom>
          <a:solidFill>
            <a:srgbClr val="0F7A4A"/>
          </a:solidFill>
          <a:ln w="12700">
            <a:solidFill>
              <a:srgbClr val="0F7A4A"/>
            </a:solidFill>
            <a:prstDash val="solid"/>
          </a:ln>
        </p:spPr>
      </p:sp>
      <p:sp>
        <p:nvSpPr>
          <p:cNvPr id="13" name="Text 11"/>
          <p:cNvSpPr txBox="1"/>
          <p:nvPr/>
        </p:nvSpPr>
        <p:spPr>
          <a:xfrm>
            <a:off x="548640" y="45262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4" name="Text 12"/>
          <p:cNvSpPr txBox="1"/>
          <p:nvPr/>
        </p:nvSpPr>
        <p:spPr>
          <a:xfrm>
            <a:off x="1280160" y="4434840"/>
            <a:ext cx="4754880" cy="457200"/>
          </a:xfrm>
          <a:prstGeom prst="rect">
            <a:avLst/>
          </a:prstGeom>
          <a:noFill/>
          <a:ln/>
        </p:spPr>
        <p:txBody>
          <a:bodyPr wrap="square" lIns="0" tIns="0" rIns="0" bIns="0" rtlCol="0" anchor="ctr"/>
          <a:lstStyle/>
          <a:p>
            <a:pPr indent="0" marL="0">
              <a:buNone/>
            </a:pPr>
            <a:r>
              <a:rPr lang="en-US" sz="2000" b="1" dirty="0">
                <a:solidFill>
                  <a:srgbClr val="13201A"/>
                </a:solidFill>
                <a:latin typeface="Cambria" pitchFamily="34" charset="0"/>
                <a:ea typeface="Cambria" pitchFamily="34" charset="-122"/>
                <a:cs typeface="Cambria" pitchFamily="34" charset="-120"/>
              </a:rPr>
              <a:t>Faster, cheaper QA</a:t>
            </a:r>
            <a:endParaRPr lang="en-US" sz="2000" dirty="0"/>
          </a:p>
        </p:txBody>
      </p:sp>
      <p:sp>
        <p:nvSpPr>
          <p:cNvPr id="15" name="Text 13"/>
          <p:cNvSpPr txBox="1"/>
          <p:nvPr/>
        </p:nvSpPr>
        <p:spPr>
          <a:xfrm>
            <a:off x="1280160" y="4892040"/>
            <a:ext cx="4754880" cy="731520"/>
          </a:xfrm>
          <a:prstGeom prst="rect">
            <a:avLst/>
          </a:prstGeom>
          <a:noFill/>
          <a:ln/>
        </p:spPr>
        <p:txBody>
          <a:bodyPr wrap="square" lIns="0" tIns="0" rIns="0" bIns="0" rtlCol="0" anchor="t"/>
          <a:lstStyle/>
          <a:p>
            <a:pPr indent="0" marL="0">
              <a:buNone/>
            </a:pPr>
            <a:r>
              <a:rPr lang="en-US" sz="1500" dirty="0">
                <a:solidFill>
                  <a:srgbClr val="5F6F67"/>
                </a:solidFill>
                <a:latin typeface="Calibri" pitchFamily="34" charset="0"/>
                <a:ea typeface="Calibri" pitchFamily="34" charset="-122"/>
                <a:cs typeface="Calibri" pitchFamily="34" charset="-120"/>
              </a:rPr>
              <a:t>Minutes and a few rupees per run instead of hours of manual testing</a:t>
            </a:r>
            <a:endParaRPr lang="en-US" sz="1500" dirty="0"/>
          </a:p>
        </p:txBody>
      </p:sp>
      <p:sp>
        <p:nvSpPr>
          <p:cNvPr id="16" name="Shape 14"/>
          <p:cNvSpPr/>
          <p:nvPr/>
        </p:nvSpPr>
        <p:spPr>
          <a:xfrm>
            <a:off x="6492240" y="1463040"/>
            <a:ext cx="5166360" cy="4663440"/>
          </a:xfrm>
          <a:prstGeom prst="roundRect">
            <a:avLst>
              <a:gd name="adj" fmla="val 2353"/>
            </a:avLst>
          </a:prstGeom>
          <a:solidFill>
            <a:srgbClr val="E2F3EA"/>
          </a:solidFill>
          <a:ln w="9525">
            <a:solidFill>
              <a:srgbClr val="DFE7E3"/>
            </a:solidFill>
            <a:prstDash val="solid"/>
          </a:ln>
        </p:spPr>
      </p:sp>
      <p:sp>
        <p:nvSpPr>
          <p:cNvPr id="17" name="Text 15"/>
          <p:cNvSpPr txBox="1"/>
          <p:nvPr/>
        </p:nvSpPr>
        <p:spPr>
          <a:xfrm>
            <a:off x="6766560" y="1691640"/>
            <a:ext cx="4663440" cy="457200"/>
          </a:xfrm>
          <a:prstGeom prst="rect">
            <a:avLst/>
          </a:prstGeom>
          <a:noFill/>
          <a:ln/>
        </p:spPr>
        <p:txBody>
          <a:bodyPr wrap="square" lIns="0" tIns="0" rIns="0" bIns="0" rtlCol="0" anchor="ctr"/>
          <a:lstStyle/>
          <a:p>
            <a:pPr indent="0" marL="0">
              <a:buNone/>
            </a:pPr>
            <a:r>
              <a:rPr lang="en-US" sz="2000" b="1" dirty="0">
                <a:solidFill>
                  <a:srgbClr val="0F7A4A"/>
                </a:solidFill>
                <a:latin typeface="Cambria" pitchFamily="34" charset="0"/>
                <a:ea typeface="Cambria" pitchFamily="34" charset="-122"/>
                <a:cs typeface="Cambria" pitchFamily="34" charset="-120"/>
              </a:rPr>
              <a:t>Path to a live feature</a:t>
            </a:r>
            <a:endParaRPr lang="en-US" sz="2000" dirty="0"/>
          </a:p>
        </p:txBody>
      </p:sp>
      <p:sp>
        <p:nvSpPr>
          <p:cNvPr id="18" name="Shape 16"/>
          <p:cNvSpPr/>
          <p:nvPr/>
        </p:nvSpPr>
        <p:spPr>
          <a:xfrm>
            <a:off x="6766560" y="2331720"/>
            <a:ext cx="457200" cy="457200"/>
          </a:xfrm>
          <a:prstGeom prst="ellipse">
            <a:avLst/>
          </a:prstGeom>
          <a:solidFill>
            <a:srgbClr val="0F7A4A"/>
          </a:solidFill>
          <a:ln w="12700">
            <a:solidFill>
              <a:srgbClr val="0F7A4A"/>
            </a:solidFill>
            <a:prstDash val="solid"/>
          </a:ln>
        </p:spPr>
      </p:sp>
      <p:sp>
        <p:nvSpPr>
          <p:cNvPr id="19" name="Text 17"/>
          <p:cNvSpPr txBox="1"/>
          <p:nvPr/>
        </p:nvSpPr>
        <p:spPr>
          <a:xfrm>
            <a:off x="6766560" y="2331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0" name="Text 18"/>
          <p:cNvSpPr txBox="1"/>
          <p:nvPr/>
        </p:nvSpPr>
        <p:spPr>
          <a:xfrm>
            <a:off x="7406640" y="2221992"/>
            <a:ext cx="4023360" cy="685800"/>
          </a:xfrm>
          <a:prstGeom prst="rect">
            <a:avLst/>
          </a:prstGeom>
          <a:noFill/>
          <a:ln/>
        </p:spPr>
        <p:txBody>
          <a:bodyPr wrap="square" lIns="0" tIns="0" rIns="0" bIns="0" rtlCol="0" anchor="ctr"/>
          <a:lstStyle/>
          <a:p>
            <a:pPr indent="0" marL="0">
              <a:buNone/>
            </a:pPr>
            <a:r>
              <a:rPr lang="en-US" sz="1500" dirty="0">
                <a:solidFill>
                  <a:srgbClr val="13201A"/>
                </a:solidFill>
                <a:latin typeface="Calibri" pitchFamily="34" charset="0"/>
                <a:ea typeface="Calibri" pitchFamily="34" charset="-122"/>
                <a:cs typeface="Calibri" pitchFamily="34" charset="-120"/>
              </a:rPr>
              <a:t>Run nightly on every AI feature: support bot, daily quiz, onboarding</a:t>
            </a:r>
            <a:endParaRPr lang="en-US" sz="1500" dirty="0"/>
          </a:p>
        </p:txBody>
      </p:sp>
      <p:sp>
        <p:nvSpPr>
          <p:cNvPr id="21" name="Shape 19"/>
          <p:cNvSpPr/>
          <p:nvPr/>
        </p:nvSpPr>
        <p:spPr>
          <a:xfrm>
            <a:off x="6766560" y="3246120"/>
            <a:ext cx="457200" cy="457200"/>
          </a:xfrm>
          <a:prstGeom prst="ellipse">
            <a:avLst/>
          </a:prstGeom>
          <a:solidFill>
            <a:srgbClr val="0F7A4A"/>
          </a:solidFill>
          <a:ln w="12700">
            <a:solidFill>
              <a:srgbClr val="0F7A4A"/>
            </a:solidFill>
            <a:prstDash val="solid"/>
          </a:ln>
        </p:spPr>
      </p:sp>
      <p:sp>
        <p:nvSpPr>
          <p:cNvPr id="22" name="Text 20"/>
          <p:cNvSpPr txBox="1"/>
          <p:nvPr/>
        </p:nvSpPr>
        <p:spPr>
          <a:xfrm>
            <a:off x="6766560" y="3246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3" name="Text 21"/>
          <p:cNvSpPr txBox="1"/>
          <p:nvPr/>
        </p:nvSpPr>
        <p:spPr>
          <a:xfrm>
            <a:off x="7406640" y="3136392"/>
            <a:ext cx="4023360" cy="685800"/>
          </a:xfrm>
          <a:prstGeom prst="rect">
            <a:avLst/>
          </a:prstGeom>
          <a:noFill/>
          <a:ln/>
        </p:spPr>
        <p:txBody>
          <a:bodyPr wrap="square" lIns="0" tIns="0" rIns="0" bIns="0" rtlCol="0" anchor="ctr"/>
          <a:lstStyle/>
          <a:p>
            <a:pPr indent="0" marL="0">
              <a:buNone/>
            </a:pPr>
            <a:r>
              <a:rPr lang="en-US" sz="1500" dirty="0">
                <a:solidFill>
                  <a:srgbClr val="13201A"/>
                </a:solidFill>
                <a:latin typeface="Calibri" pitchFamily="34" charset="0"/>
                <a:ea typeface="Calibri" pitchFamily="34" charset="-122"/>
                <a:cs typeface="Calibri" pitchFamily="34" charset="-120"/>
              </a:rPr>
              <a:t>Add to the release pipeline: block any bot version below 80%</a:t>
            </a:r>
            <a:endParaRPr lang="en-US" sz="1500" dirty="0"/>
          </a:p>
        </p:txBody>
      </p:sp>
      <p:sp>
        <p:nvSpPr>
          <p:cNvPr id="24" name="Shape 22"/>
          <p:cNvSpPr/>
          <p:nvPr/>
        </p:nvSpPr>
        <p:spPr>
          <a:xfrm>
            <a:off x="6766560" y="4160520"/>
            <a:ext cx="457200" cy="457200"/>
          </a:xfrm>
          <a:prstGeom prst="ellipse">
            <a:avLst/>
          </a:prstGeom>
          <a:solidFill>
            <a:srgbClr val="0F7A4A"/>
          </a:solidFill>
          <a:ln w="12700">
            <a:solidFill>
              <a:srgbClr val="0F7A4A"/>
            </a:solidFill>
            <a:prstDash val="solid"/>
          </a:ln>
        </p:spPr>
      </p:sp>
      <p:sp>
        <p:nvSpPr>
          <p:cNvPr id="25" name="Text 23"/>
          <p:cNvSpPr txBox="1"/>
          <p:nvPr/>
        </p:nvSpPr>
        <p:spPr>
          <a:xfrm>
            <a:off x="6766560" y="4160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Text 24"/>
          <p:cNvSpPr txBox="1"/>
          <p:nvPr/>
        </p:nvSpPr>
        <p:spPr>
          <a:xfrm>
            <a:off x="7406640" y="4050792"/>
            <a:ext cx="4023360" cy="685800"/>
          </a:xfrm>
          <a:prstGeom prst="rect">
            <a:avLst/>
          </a:prstGeom>
          <a:noFill/>
          <a:ln/>
        </p:spPr>
        <p:txBody>
          <a:bodyPr wrap="square" lIns="0" tIns="0" rIns="0" bIns="0" rtlCol="0" anchor="ctr"/>
          <a:lstStyle/>
          <a:p>
            <a:pPr indent="0" marL="0">
              <a:buNone/>
            </a:pPr>
            <a:r>
              <a:rPr lang="en-US" sz="1500" dirty="0">
                <a:solidFill>
                  <a:srgbClr val="13201A"/>
                </a:solidFill>
                <a:latin typeface="Calibri" pitchFamily="34" charset="0"/>
                <a:ea typeface="Calibri" pitchFamily="34" charset="-122"/>
                <a:cs typeface="Calibri" pitchFamily="34" charset="-120"/>
              </a:rPr>
              <a:t>Connect to the real bot endpoint and real support policy</a:t>
            </a:r>
            <a:endParaRPr lang="en-US" sz="1500" dirty="0"/>
          </a:p>
        </p:txBody>
      </p:sp>
      <p:sp>
        <p:nvSpPr>
          <p:cNvPr id="27" name="Shape 25"/>
          <p:cNvSpPr/>
          <p:nvPr/>
        </p:nvSpPr>
        <p:spPr>
          <a:xfrm>
            <a:off x="6766560" y="5074920"/>
            <a:ext cx="457200" cy="457200"/>
          </a:xfrm>
          <a:prstGeom prst="ellipse">
            <a:avLst/>
          </a:prstGeom>
          <a:solidFill>
            <a:srgbClr val="0F7A4A"/>
          </a:solidFill>
          <a:ln w="12700">
            <a:solidFill>
              <a:srgbClr val="0F7A4A"/>
            </a:solidFill>
            <a:prstDash val="solid"/>
          </a:ln>
        </p:spPr>
      </p:sp>
      <p:sp>
        <p:nvSpPr>
          <p:cNvPr id="28" name="Text 26"/>
          <p:cNvSpPr txBox="1"/>
          <p:nvPr/>
        </p:nvSpPr>
        <p:spPr>
          <a:xfrm>
            <a:off x="6766560" y="5074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9" name="Text 27"/>
          <p:cNvSpPr txBox="1"/>
          <p:nvPr/>
        </p:nvSpPr>
        <p:spPr>
          <a:xfrm>
            <a:off x="7406640" y="4965192"/>
            <a:ext cx="4023360" cy="685800"/>
          </a:xfrm>
          <a:prstGeom prst="rect">
            <a:avLst/>
          </a:prstGeom>
          <a:noFill/>
          <a:ln/>
        </p:spPr>
        <p:txBody>
          <a:bodyPr wrap="square" lIns="0" tIns="0" rIns="0" bIns="0" rtlCol="0" anchor="ctr"/>
          <a:lstStyle/>
          <a:p>
            <a:pPr indent="0" marL="0">
              <a:buNone/>
            </a:pPr>
            <a:r>
              <a:rPr lang="en-US" sz="1500" dirty="0">
                <a:solidFill>
                  <a:srgbClr val="13201A"/>
                </a:solidFill>
                <a:latin typeface="Calibri" pitchFamily="34" charset="0"/>
                <a:ea typeface="Calibri" pitchFamily="34" charset="-122"/>
                <a:cs typeface="Calibri" pitchFamily="34" charset="-120"/>
              </a:rPr>
              <a:t>Alert the team in Slack when a pass rate drops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3D25"/>
        </a:solidFill>
      </p:bgPr>
    </p:bg>
    <p:spTree>
      <p:nvGrpSpPr>
        <p:cNvPr id="1" name=""/>
        <p:cNvGrpSpPr/>
        <p:nvPr/>
      </p:nvGrpSpPr>
      <p:grpSpPr>
        <a:xfrm>
          <a:off x="0" y="0"/>
          <a:ext cx="0" cy="0"/>
          <a:chOff x="0" y="0"/>
          <a:chExt cx="0" cy="0"/>
        </a:xfrm>
      </p:grpSpPr>
      <p:sp>
        <p:nvSpPr>
          <p:cNvPr id="2" name="Text 0"/>
          <p:cNvSpPr txBox="1"/>
          <p:nvPr/>
        </p:nvSpPr>
        <p:spPr>
          <a:xfrm>
            <a:off x="731520" y="1645920"/>
            <a:ext cx="1069848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Catch it before the customer does.</a:t>
            </a:r>
            <a:endParaRPr lang="en-US" sz="4400" dirty="0"/>
          </a:p>
        </p:txBody>
      </p:sp>
      <p:sp>
        <p:nvSpPr>
          <p:cNvPr id="3" name="Text 1"/>
          <p:cNvSpPr txBox="1"/>
          <p:nvPr/>
        </p:nvSpPr>
        <p:spPr>
          <a:xfrm>
            <a:off x="731520" y="3291840"/>
            <a:ext cx="10698480" cy="1645920"/>
          </a:xfrm>
          <a:prstGeom prst="rect">
            <a:avLst/>
          </a:prstGeom>
          <a:noFill/>
          <a:ln/>
        </p:spPr>
        <p:txBody>
          <a:bodyPr wrap="square" lIns="0" tIns="0" rIns="0" bIns="0" rtlCol="0" anchor="ctr"/>
          <a:lstStyle/>
          <a:p>
            <a:pPr indent="0" marL="0">
              <a:spcAft>
                <a:spcPts val="800"/>
              </a:spcAft>
              <a:buNone/>
            </a:pPr>
            <a:r>
              <a:rPr lang="en-US" sz="1800" b="1" dirty="0">
                <a:solidFill>
                  <a:srgbClr val="3DCC85"/>
                </a:solidFill>
                <a:latin typeface="Calibri" pitchFamily="34" charset="0"/>
                <a:ea typeface="Calibri" pitchFamily="34" charset="-122"/>
                <a:cs typeface="Calibri" pitchFamily="34" charset="-120"/>
              </a:rPr>
              <a:t>Working demo: </a:t>
            </a:r>
            <a:pPr indent="0" marL="0">
              <a:spcAft>
                <a:spcPts val="800"/>
              </a:spcAft>
              <a:buNone/>
            </a:pPr>
            <a:r>
              <a:rPr lang="en-US" sz="18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https://claude.ai/artifact/M3tygTdsqDQT3LYpdjm3R5</a:t>
            </a:r>
            <a:endParaRPr lang="en-US" sz="1800" dirty="0"/>
          </a:p>
          <a:p>
            <a:pPr indent="0" marL="0">
              <a:spcAft>
                <a:spcPts val="800"/>
              </a:spcAft>
              <a:buNone/>
            </a:pPr>
            <a:r>
              <a:rPr lang="en-US" sz="1800" b="1" dirty="0">
                <a:solidFill>
                  <a:srgbClr val="3DCC85"/>
                </a:solidFill>
                <a:latin typeface="Calibri" pitchFamily="34" charset="0"/>
                <a:ea typeface="Calibri" pitchFamily="34" charset="-122"/>
                <a:cs typeface="Calibri" pitchFamily="34" charset="-120"/>
              </a:rPr>
              <a:t>Code: </a:t>
            </a:r>
            <a:pPr indent="0" marL="0">
              <a:spcAft>
                <a:spcPts val="800"/>
              </a:spcAft>
              <a:buNone/>
            </a:pPr>
            <a:r>
              <a:rPr lang="en-US" sz="1800" dirty="0">
                <a:solidFill>
                  <a:srgbClr val="FFFFFF"/>
                </a:solidFill>
                <a:latin typeface="Calibri" pitchFamily="34" charset="0"/>
                <a:ea typeface="Calibri" pitchFamily="34" charset="-122"/>
                <a:cs typeface="Calibri" pitchFamily="34" charset="-120"/>
              </a:rPr>
              <a:t>github.com/mrsnoopy14/karmaguard (private)</a:t>
            </a:r>
            <a:endParaRPr lang="en-US" sz="1800" dirty="0"/>
          </a:p>
          <a:p>
            <a:pPr indent="0" marL="0">
              <a:spcAft>
                <a:spcPts val="800"/>
              </a:spcAft>
              <a:buNone/>
            </a:pPr>
            <a:r>
              <a:rPr lang="en-US" sz="1800" b="1" dirty="0">
                <a:solidFill>
                  <a:srgbClr val="3DCC85"/>
                </a:solidFill>
                <a:latin typeface="Calibri" pitchFamily="34" charset="0"/>
                <a:ea typeface="Calibri" pitchFamily="34" charset="-122"/>
                <a:cs typeface="Calibri" pitchFamily="34" charset="-120"/>
              </a:rPr>
              <a:t>Team 3: </a:t>
            </a:r>
            <a:pPr indent="0" marL="0">
              <a:spcAft>
                <a:spcPts val="800"/>
              </a:spcAft>
              <a:buNone/>
            </a:pPr>
            <a:r>
              <a:rPr lang="en-US" sz="1800" dirty="0">
                <a:solidFill>
                  <a:srgbClr val="FFFFFF"/>
                </a:solidFill>
                <a:latin typeface="Calibri" pitchFamily="34" charset="0"/>
                <a:ea typeface="Calibri" pitchFamily="34" charset="-122"/>
                <a:cs typeface="Calibri" pitchFamily="34" charset="-120"/>
              </a:rPr>
              <a:t>Shashi and Gourav</a:t>
            </a:r>
            <a:endParaRPr lang="en-US" sz="1800" dirty="0"/>
          </a:p>
        </p:txBody>
      </p:sp>
      <p:sp>
        <p:nvSpPr>
          <p:cNvPr id="4" name="Text 2"/>
          <p:cNvSpPr txBox="1"/>
          <p:nvPr/>
        </p:nvSpPr>
        <p:spPr>
          <a:xfrm>
            <a:off x="731520" y="5669280"/>
            <a:ext cx="5486400" cy="457200"/>
          </a:xfrm>
          <a:prstGeom prst="rect">
            <a:avLst/>
          </a:prstGeom>
          <a:noFill/>
          <a:ln/>
        </p:spPr>
        <p:txBody>
          <a:bodyPr wrap="square" lIns="0" tIns="0" rIns="0" bIns="0" rtlCol="0" anchor="ctr"/>
          <a:lstStyle/>
          <a:p>
            <a:pPr indent="0" marL="0">
              <a:buNone/>
            </a:pPr>
            <a:r>
              <a:rPr lang="en-US" sz="1600" dirty="0">
                <a:solidFill>
                  <a:srgbClr val="9FC9B4"/>
                </a:solidFill>
                <a:latin typeface="Calibri" pitchFamily="34" charset="0"/>
                <a:ea typeface="Calibri" pitchFamily="34" charset="-122"/>
                <a:cs typeface="Calibri" pitchFamily="34" charset="-120"/>
              </a:rPr>
              <a:t>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KarmaGuard</dc:title>
  <dc:subject>PptxGenJS Presentation</dc:subject>
  <dc:creator>PptxGenJS</dc:creator>
  <cp:lastModifiedBy>PptxGenJS</cp:lastModifiedBy>
  <cp:revision>1</cp:revision>
  <dcterms:created xsi:type="dcterms:W3CDTF">2026-09-19T11:54:54Z</dcterms:created>
  <dcterms:modified xsi:type="dcterms:W3CDTF">2026-09-19T11:54:54Z</dcterms:modified>
</cp:coreProperties>
</file>